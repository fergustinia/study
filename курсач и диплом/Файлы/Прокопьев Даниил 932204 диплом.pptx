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18"/>
  </p:handoutMasterIdLst>
  <p:sldIdLst>
    <p:sldId id="259" r:id="rId3"/>
    <p:sldId id="268" r:id="rId5"/>
    <p:sldId id="266" r:id="rId6"/>
    <p:sldId id="296" r:id="rId7"/>
    <p:sldId id="279" r:id="rId8"/>
    <p:sldId id="297" r:id="rId9"/>
    <p:sldId id="280" r:id="rId10"/>
    <p:sldId id="298" r:id="rId11"/>
    <p:sldId id="299" r:id="rId12"/>
    <p:sldId id="300" r:id="rId13"/>
    <p:sldId id="301" r:id="rId14"/>
    <p:sldId id="302" r:id="rId15"/>
    <p:sldId id="295" r:id="rId16"/>
    <p:sldId id="267" r:id="rId17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625" autoAdjust="0"/>
    <p:restoredTop sz="94660"/>
  </p:normalViewPr>
  <p:slideViewPr>
    <p:cSldViewPr snapToGrid="0" showGuides="1">
      <p:cViewPr varScale="1">
        <p:scale>
          <a:sx n="115" d="100"/>
          <a:sy n="115" d="100"/>
        </p:scale>
        <p:origin x="852" y="126"/>
      </p:cViewPr>
      <p:guideLst>
        <p:guide orient="horz" pos="2188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Jira agile positioning and scrum boards: https://www.atlassian.com/software/jira/features/scrum-boards ; https://www.atlassian.com/agile/scrum
- Trello product positioning and task-management messaging: https://trello.com/ ; https://trello.com/en/use-cases/task-management
- Asana work-management positioning and project/task features: https://asana.com/product ; https://asana.com/features/project-management
- Logo assets used on this slide: https://atlassian.design/foundations/logos ; https://trello.com/about/logo ; https://asana.com/brand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E26F9-B1B7-4CD1-84E0-AADEB28128F6}" type="datetime1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B3F84-F9D6-4275-87D4-B9EB9D964FE9}" type="datetime1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03665-21EA-49DB-834A-23136874909C}" type="datetime1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4C180-C1A4-46D7-B486-5205252665FA}" type="datetime1">
              <a:rPr lang="en-US" smtClean="0"/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5BA7D-AD6D-4EA9-ADB2-3B65788F4717}" type="datetime1">
              <a:rPr lang="en-US" smtClean="0"/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13E23-C751-44AF-9DAC-B513EF1AB44A}" type="datetime1">
              <a:rPr lang="en-US" smtClean="0"/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00EDF-D25F-4ED3-AA58-8AFB119CA9D9}" type="datetime1">
              <a:rPr lang="en-US" smtClean="0"/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45EFB5E-7C54-4C29-BEE6-9F5CF3400480}" type="datetime1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3831447-C893-4FB7-A405-85B25DF4EE9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2AE6B-33A3-44F5-AF32-9A9BD4C43B8A}" type="datetime1">
              <a:rPr lang="en-US" smtClean="0"/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485674-3A50-46D7-821D-03B73699769C}" type="datetime1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3831447-C893-4FB7-A405-85B25DF4EE9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3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C772-08B9-41C4-AAA9-F82ED33EECB9}" type="datetime1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4468F-6682-48AA-B5F4-BEF8E7F9833C}" type="datetimeFigureOut">
              <a:rPr lang="ru-RU" smtClean="0"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2897F-7A41-40D7-BC9E-F666B07C585D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Заголовок 1025"/>
          <p:cNvSpPr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t>Click to edit Master title style</a:t>
            </a:r>
          </a:p>
        </p:txBody>
      </p:sp>
      <p:sp>
        <p:nvSpPr>
          <p:cNvPr id="1027" name="Замещающий текст 1026"/>
          <p:cNvSpPr/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Замещающая дата 1027"/>
          <p:cNvSpPr/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fld id="{41AFB517-99D1-4783-8F57-0F7695BB67AF}" type="datetime1">
              <a:rPr lang="en-US" smtClean="0"/>
            </a:fld>
            <a:endParaRPr lang="en-US" dirty="0"/>
          </a:p>
        </p:txBody>
      </p:sp>
      <p:sp>
        <p:nvSpPr>
          <p:cNvPr id="1029" name="Замещающий нижний колонтитул 1028"/>
          <p:cNvSpPr/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Замещающий номер слайда 1029"/>
          <p:cNvSpPr/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1" Type="http://schemas.openxmlformats.org/officeDocument/2006/relationships/notesSlide" Target="../notesSlides/notesSlide4.xml"/><Relationship Id="rId30" Type="http://schemas.openxmlformats.org/officeDocument/2006/relationships/slideLayout" Target="../slideLayouts/slideLayout12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4" Type="http://schemas.openxmlformats.org/officeDocument/2006/relationships/notesSlide" Target="../notesSlides/notesSlide8.xml"/><Relationship Id="rId13" Type="http://schemas.openxmlformats.org/officeDocument/2006/relationships/slideLayout" Target="../slideLayouts/slideLayout12.xml"/><Relationship Id="rId12" Type="http://schemas.openxmlformats.org/officeDocument/2006/relationships/tags" Target="../tags/tag41.xml"/><Relationship Id="rId11" Type="http://schemas.openxmlformats.org/officeDocument/2006/relationships/tags" Target="../tags/tag40.xml"/><Relationship Id="rId10" Type="http://schemas.openxmlformats.org/officeDocument/2006/relationships/tags" Target="../tags/tag39.xml"/><Relationship Id="rId1" Type="http://schemas.openxmlformats.org/officeDocument/2006/relationships/tags" Target="../tags/tag3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86242" cy="5281863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740" y="5424455"/>
            <a:ext cx="2665723" cy="1184877"/>
          </a:xfrm>
          <a:prstGeom prst="rect">
            <a:avLst/>
          </a:prstGeom>
        </p:spPr>
      </p:pic>
      <p:sp>
        <p:nvSpPr>
          <p:cNvPr id="11" name="Shape 179"/>
          <p:cNvSpPr txBox="1"/>
          <p:nvPr/>
        </p:nvSpPr>
        <p:spPr>
          <a:xfrm>
            <a:off x="3577027" y="5424454"/>
            <a:ext cx="8609215" cy="115896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lvl="1" indent="457200" algn="r" defTabSz="897890">
              <a:lnSpc>
                <a:spcPts val="2300"/>
              </a:lnSpc>
              <a:defRPr sz="1800">
                <a:solidFill>
                  <a:srgbClr val="000000"/>
                </a:solidFill>
              </a:defRPr>
            </a:pPr>
            <a:r>
              <a:rPr lang="en-US" altLang="en-US" sz="2400" dirty="0" smtClean="0">
                <a:solidFill>
                  <a:srgbClr val="000000"/>
                </a:solidFill>
              </a:rPr>
              <a:t>Разработка</a:t>
            </a:r>
            <a:r>
              <a:rPr lang="en-US" altLang="ru-RU" sz="2400" dirty="0" smtClean="0">
                <a:solidFill>
                  <a:srgbClr val="000000"/>
                </a:solidFill>
              </a:rPr>
              <a:t> </a:t>
            </a:r>
            <a:r>
              <a:rPr lang="en-US" altLang="en-US" sz="2400" dirty="0" smtClean="0">
                <a:solidFill>
                  <a:srgbClr val="000000"/>
                </a:solidFill>
              </a:rPr>
              <a:t>системы</a:t>
            </a:r>
            <a:r>
              <a:rPr lang="en-US" altLang="ru-RU" sz="2400" dirty="0" smtClean="0">
                <a:solidFill>
                  <a:srgbClr val="000000"/>
                </a:solidFill>
              </a:rPr>
              <a:t> </a:t>
            </a:r>
            <a:r>
              <a:rPr lang="en-US" altLang="en-US" sz="2400" dirty="0" smtClean="0">
                <a:solidFill>
                  <a:srgbClr val="000000"/>
                </a:solidFill>
              </a:rPr>
              <a:t>управления</a:t>
            </a:r>
            <a:r>
              <a:rPr lang="en-US" altLang="ru-RU" sz="2400" dirty="0" smtClean="0">
                <a:solidFill>
                  <a:srgbClr val="000000"/>
                </a:solidFill>
              </a:rPr>
              <a:t> </a:t>
            </a:r>
            <a:r>
              <a:rPr lang="en-US" altLang="en-US" sz="2400" dirty="0" smtClean="0">
                <a:solidFill>
                  <a:srgbClr val="000000"/>
                </a:solidFill>
              </a:rPr>
              <a:t>проектами</a:t>
            </a:r>
            <a:r>
              <a:rPr lang="en-US" altLang="ru-RU" sz="2400" dirty="0" smtClean="0">
                <a:solidFill>
                  <a:srgbClr val="000000"/>
                </a:solidFill>
              </a:rPr>
              <a:t> </a:t>
            </a:r>
            <a:r>
              <a:rPr lang="en-US" altLang="en-US" sz="2400" dirty="0" smtClean="0">
                <a:solidFill>
                  <a:srgbClr val="000000"/>
                </a:solidFill>
              </a:rPr>
              <a:t>с</a:t>
            </a:r>
            <a:r>
              <a:rPr lang="en-US" altLang="ru-RU" sz="2400" dirty="0" smtClean="0">
                <a:solidFill>
                  <a:srgbClr val="000000"/>
                </a:solidFill>
              </a:rPr>
              <a:t> </a:t>
            </a:r>
            <a:r>
              <a:rPr lang="en-US" altLang="en-US" sz="2400" dirty="0" smtClean="0">
                <a:solidFill>
                  <a:srgbClr val="000000"/>
                </a:solidFill>
              </a:rPr>
              <a:t>применением</a:t>
            </a:r>
            <a:r>
              <a:rPr lang="en-US" altLang="ru-RU" sz="2400" dirty="0" smtClean="0">
                <a:solidFill>
                  <a:srgbClr val="000000"/>
                </a:solidFill>
              </a:rPr>
              <a:t> Agile </a:t>
            </a:r>
            <a:r>
              <a:rPr lang="en-US" altLang="en-US" sz="2400" dirty="0" smtClean="0">
                <a:solidFill>
                  <a:srgbClr val="000000"/>
                </a:solidFill>
              </a:rPr>
              <a:t>и</a:t>
            </a:r>
            <a:r>
              <a:rPr lang="en-US" altLang="ru-RU" sz="2400" dirty="0" smtClean="0">
                <a:solidFill>
                  <a:srgbClr val="000000"/>
                </a:solidFill>
              </a:rPr>
              <a:t> Scrum</a:t>
            </a:r>
            <a:endParaRPr lang="en-US" altLang="ru-RU" sz="2400" b="1" dirty="0" smtClean="0">
              <a:solidFill>
                <a:srgbClr val="000000"/>
              </a:solidFill>
            </a:endParaRPr>
          </a:p>
          <a:p>
            <a:pPr algn="r"/>
            <a:r>
              <a:rPr lang="ru-RU" altLang="en-US" sz="1800" b="1" dirty="0"/>
              <a:t>Автор: Прокопьев Даниил Андреевич</a:t>
            </a:r>
            <a:r>
              <a:rPr lang="ru-RU" altLang="en-US" sz="1800" b="1" dirty="0" smtClean="0"/>
              <a:t>, </a:t>
            </a:r>
            <a:r>
              <a:rPr lang="ru-RU" altLang="en-US" sz="1800" b="1" dirty="0"/>
              <a:t>группа 932204</a:t>
            </a:r>
            <a:endParaRPr lang="ru-RU" altLang="en-US" sz="1800" b="1" dirty="0"/>
          </a:p>
          <a:p>
            <a:pPr algn="r"/>
            <a:r>
              <a:rPr lang="ru-RU" altLang="en-US" sz="1800" b="1" dirty="0"/>
              <a:t>Научный руководитель: канд. физ.-мат. наук Морозова А. С.</a:t>
            </a:r>
            <a:endParaRPr lang="ru-RU" altLang="en-US" sz="1800" b="1" dirty="0"/>
          </a:p>
          <a:p>
            <a:pPr algn="r" defTabSz="897890">
              <a:lnSpc>
                <a:spcPts val="2300"/>
              </a:lnSpc>
              <a:defRPr sz="1800">
                <a:solidFill>
                  <a:srgbClr val="000000"/>
                </a:solidFill>
              </a:defRPr>
            </a:pPr>
            <a:endParaRPr lang="ru-RU" sz="1800" b="1" dirty="0">
              <a:solidFill>
                <a:srgbClr val="000000"/>
              </a:solidFill>
              <a:latin typeface="+mn-lt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altLang="en-US" sz="4800" dirty="0" smtClean="0">
                <a:solidFill>
                  <a:srgbClr val="000000"/>
                </a:solidFill>
                <a:sym typeface="+mn-ea"/>
              </a:rPr>
              <a:t>С</a:t>
            </a:r>
            <a:r>
              <a:rPr lang="en-US" altLang="en-US" sz="4800" dirty="0" smtClean="0">
                <a:solidFill>
                  <a:srgbClr val="000000"/>
                </a:solidFill>
                <a:sym typeface="+mn-ea"/>
              </a:rPr>
              <a:t>истемы</a:t>
            </a:r>
            <a:r>
              <a:rPr lang="en-US" altLang="ru-RU" sz="4800" dirty="0" smtClean="0">
                <a:solidFill>
                  <a:srgbClr val="000000"/>
                </a:solidFill>
                <a:sym typeface="+mn-ea"/>
              </a:rPr>
              <a:t> </a:t>
            </a:r>
            <a:r>
              <a:rPr lang="en-US" altLang="en-US" sz="4800" dirty="0" smtClean="0">
                <a:solidFill>
                  <a:srgbClr val="000000"/>
                </a:solidFill>
                <a:sym typeface="+mn-ea"/>
              </a:rPr>
              <a:t>управления</a:t>
            </a:r>
            <a:r>
              <a:rPr lang="en-US" altLang="ru-RU" sz="4800" dirty="0" smtClean="0">
                <a:solidFill>
                  <a:srgbClr val="000000"/>
                </a:solidFill>
                <a:sym typeface="+mn-ea"/>
              </a:rPr>
              <a:t> </a:t>
            </a:r>
            <a:r>
              <a:rPr lang="en-US" altLang="en-US" sz="4800" dirty="0" smtClean="0">
                <a:solidFill>
                  <a:srgbClr val="000000"/>
                </a:solidFill>
                <a:sym typeface="+mn-ea"/>
              </a:rPr>
              <a:t>проектами</a:t>
            </a:r>
            <a:r>
              <a:rPr lang="en-US" altLang="ru-RU" sz="4800" dirty="0" smtClean="0">
                <a:solidFill>
                  <a:srgbClr val="000000"/>
                </a:solidFill>
                <a:sym typeface="+mn-ea"/>
              </a:rPr>
              <a:t> </a:t>
            </a:r>
            <a:r>
              <a:rPr lang="en-US" altLang="en-US" sz="4800" dirty="0" smtClean="0">
                <a:solidFill>
                  <a:srgbClr val="000000"/>
                </a:solidFill>
                <a:sym typeface="+mn-ea"/>
              </a:rPr>
              <a:t>с</a:t>
            </a:r>
            <a:r>
              <a:rPr lang="en-US" altLang="ru-RU" sz="4800" dirty="0" smtClean="0">
                <a:solidFill>
                  <a:srgbClr val="000000"/>
                </a:solidFill>
                <a:sym typeface="+mn-ea"/>
              </a:rPr>
              <a:t> </a:t>
            </a:r>
            <a:r>
              <a:rPr lang="en-US" altLang="en-US" sz="4800" dirty="0" smtClean="0">
                <a:solidFill>
                  <a:srgbClr val="000000"/>
                </a:solidFill>
                <a:sym typeface="+mn-ea"/>
              </a:rPr>
              <a:t>применением</a:t>
            </a:r>
            <a:r>
              <a:rPr lang="en-US" altLang="ru-RU" sz="4800" dirty="0" smtClean="0">
                <a:solidFill>
                  <a:srgbClr val="000000"/>
                </a:solidFill>
                <a:sym typeface="+mn-ea"/>
              </a:rPr>
              <a:t> Agile </a:t>
            </a:r>
            <a:r>
              <a:rPr lang="en-US" altLang="en-US" sz="4800" dirty="0" smtClean="0">
                <a:solidFill>
                  <a:srgbClr val="000000"/>
                </a:solidFill>
                <a:sym typeface="+mn-ea"/>
              </a:rPr>
              <a:t>и</a:t>
            </a:r>
            <a:r>
              <a:rPr lang="en-US" altLang="ru-RU" sz="4800" dirty="0" smtClean="0">
                <a:solidFill>
                  <a:srgbClr val="000000"/>
                </a:solidFill>
                <a:sym typeface="+mn-ea"/>
              </a:rPr>
              <a:t> Scrum</a:t>
            </a:r>
            <a:endParaRPr lang="ru-RU" sz="48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2005012"/>
            <a:ext cx="10515600" cy="4351338"/>
          </a:xfrm>
        </p:spPr>
        <p:txBody>
          <a:bodyPr>
            <a:normAutofit lnSpcReduction="20000"/>
          </a:bodyPr>
          <a:lstStyle/>
          <a:p>
            <a:r>
              <a:rPr lang="ru-RU" altLang="ru-RU" sz="3200" dirty="0"/>
              <a:t>Дипломная работа</a:t>
            </a:r>
            <a:r>
              <a:rPr lang="en-US" altLang="ru-RU" sz="3200" dirty="0"/>
              <a:t> </a:t>
            </a:r>
            <a:r>
              <a:rPr lang="en-US" altLang="en-US" sz="3200" dirty="0"/>
              <a:t>посвящена</a:t>
            </a:r>
            <a:r>
              <a:rPr lang="en-US" altLang="ru-RU" sz="3200" dirty="0"/>
              <a:t> </a:t>
            </a:r>
            <a:r>
              <a:rPr lang="en-US" altLang="en-US" sz="3200" dirty="0"/>
              <a:t>разработке</a:t>
            </a:r>
            <a:r>
              <a:rPr lang="en-US" altLang="ru-RU" sz="3200" dirty="0"/>
              <a:t> </a:t>
            </a:r>
            <a:r>
              <a:rPr lang="en-US" altLang="en-US" sz="3200" dirty="0"/>
              <a:t>системы</a:t>
            </a:r>
            <a:r>
              <a:rPr lang="en-US" altLang="ru-RU" sz="3200" dirty="0"/>
              <a:t> </a:t>
            </a:r>
            <a:r>
              <a:rPr lang="en-US" altLang="en-US" sz="3200" dirty="0"/>
              <a:t>управления</a:t>
            </a:r>
            <a:r>
              <a:rPr lang="en-US" altLang="ru-RU" sz="3200" dirty="0"/>
              <a:t> </a:t>
            </a:r>
            <a:r>
              <a:rPr lang="en-US" altLang="en-US" sz="3200" dirty="0"/>
              <a:t>проектами</a:t>
            </a:r>
            <a:r>
              <a:rPr lang="en-US" altLang="ru-RU" sz="3200" dirty="0"/>
              <a:t> </a:t>
            </a:r>
            <a:r>
              <a:rPr lang="en-US" altLang="en-US" sz="3200" dirty="0"/>
              <a:t>с</a:t>
            </a:r>
            <a:r>
              <a:rPr lang="en-US" altLang="ru-RU" sz="3200" dirty="0"/>
              <a:t> </a:t>
            </a:r>
            <a:r>
              <a:rPr lang="en-US" altLang="en-US" sz="3200" dirty="0"/>
              <a:t>применением</a:t>
            </a:r>
            <a:r>
              <a:rPr lang="en-US" altLang="ru-RU" sz="3200" dirty="0"/>
              <a:t> </a:t>
            </a:r>
            <a:r>
              <a:rPr lang="en-US" altLang="en-US" sz="3200" dirty="0"/>
              <a:t>методологий</a:t>
            </a:r>
            <a:r>
              <a:rPr lang="en-US" altLang="ru-RU" sz="3200" dirty="0"/>
              <a:t> Agile </a:t>
            </a:r>
            <a:r>
              <a:rPr lang="en-US" altLang="en-US" sz="3200" dirty="0"/>
              <a:t>и</a:t>
            </a:r>
            <a:r>
              <a:rPr lang="en-US" altLang="ru-RU" sz="3200" dirty="0"/>
              <a:t> Scrum, </a:t>
            </a:r>
            <a:r>
              <a:rPr lang="en-US" altLang="en-US" sz="3200" dirty="0"/>
              <a:t>ориентированной</a:t>
            </a:r>
            <a:r>
              <a:rPr lang="en-US" altLang="ru-RU" sz="3200" dirty="0"/>
              <a:t> </a:t>
            </a:r>
            <a:r>
              <a:rPr lang="en-US" altLang="en-US" sz="3200" dirty="0"/>
              <a:t>на</a:t>
            </a:r>
            <a:r>
              <a:rPr lang="en-US" altLang="ru-RU" sz="3200" dirty="0"/>
              <a:t> </a:t>
            </a:r>
            <a:r>
              <a:rPr lang="en-US" altLang="en-US" sz="3200" dirty="0"/>
              <a:t>малые</a:t>
            </a:r>
            <a:r>
              <a:rPr lang="en-US" altLang="ru-RU" sz="3200" dirty="0"/>
              <a:t> </a:t>
            </a:r>
            <a:r>
              <a:rPr lang="en-US" altLang="en-US" sz="3200" dirty="0"/>
              <a:t>и</a:t>
            </a:r>
            <a:r>
              <a:rPr lang="en-US" altLang="ru-RU" sz="3200" dirty="0"/>
              <a:t> </a:t>
            </a:r>
            <a:r>
              <a:rPr lang="en-US" altLang="en-US" sz="3200" dirty="0"/>
              <a:t>средние</a:t>
            </a:r>
            <a:r>
              <a:rPr lang="en-US" altLang="ru-RU" sz="3200" dirty="0"/>
              <a:t> </a:t>
            </a:r>
            <a:r>
              <a:rPr lang="en-US" altLang="en-US" sz="3200" dirty="0"/>
              <a:t>команды</a:t>
            </a:r>
            <a:r>
              <a:rPr lang="en-US" altLang="ru-RU" sz="3200" dirty="0"/>
              <a:t> </a:t>
            </a:r>
            <a:r>
              <a:rPr lang="en-US" altLang="en-US" sz="3200" dirty="0"/>
              <a:t>разработчиков</a:t>
            </a:r>
            <a:r>
              <a:rPr lang="en-US" altLang="ru-RU" sz="3200" dirty="0"/>
              <a:t>.</a:t>
            </a:r>
            <a:endParaRPr lang="en-US" altLang="ru-RU" sz="3200" dirty="0"/>
          </a:p>
          <a:p>
            <a:endParaRPr lang="en-US" altLang="en-US" sz="3200" dirty="0"/>
          </a:p>
          <a:p>
            <a:r>
              <a:rPr lang="en-US" altLang="en-US" sz="3200" dirty="0"/>
              <a:t>Цель</a:t>
            </a:r>
            <a:r>
              <a:rPr lang="en-US" altLang="ru-RU" sz="3200" dirty="0"/>
              <a:t> </a:t>
            </a:r>
            <a:r>
              <a:rPr lang="ru-RU" altLang="en-US" sz="3200" dirty="0"/>
              <a:t>дипломной работы</a:t>
            </a:r>
            <a:r>
              <a:rPr lang="en-US" altLang="ru-RU" sz="3200" dirty="0"/>
              <a:t> — </a:t>
            </a:r>
            <a:r>
              <a:rPr lang="en-US" altLang="en-US" sz="3200" dirty="0"/>
              <a:t>разработка</a:t>
            </a:r>
            <a:r>
              <a:rPr lang="en-US" altLang="ru-RU" sz="3200" dirty="0"/>
              <a:t> </a:t>
            </a:r>
            <a:r>
              <a:rPr lang="en-US" altLang="en-US" sz="3200" dirty="0"/>
              <a:t>прототипа</a:t>
            </a:r>
            <a:r>
              <a:rPr lang="en-US" altLang="ru-RU" sz="3200" dirty="0"/>
              <a:t> </a:t>
            </a:r>
            <a:r>
              <a:rPr lang="en-US" altLang="en-US" sz="3200" dirty="0"/>
              <a:t>системы</a:t>
            </a:r>
            <a:r>
              <a:rPr lang="en-US" altLang="ru-RU" sz="3200" dirty="0"/>
              <a:t> </a:t>
            </a:r>
            <a:r>
              <a:rPr lang="en-US" altLang="en-US" sz="3200" dirty="0"/>
              <a:t>управления</a:t>
            </a:r>
            <a:r>
              <a:rPr lang="en-US" altLang="ru-RU" sz="3200" dirty="0"/>
              <a:t> </a:t>
            </a:r>
            <a:r>
              <a:rPr lang="en-US" altLang="en-US" sz="3200" dirty="0"/>
              <a:t>проектами</a:t>
            </a:r>
            <a:r>
              <a:rPr lang="en-US" altLang="ru-RU" sz="3200" dirty="0"/>
              <a:t>, </a:t>
            </a:r>
            <a:r>
              <a:rPr lang="en-US" altLang="en-US" sz="3200" dirty="0"/>
              <a:t>основанной</a:t>
            </a:r>
            <a:r>
              <a:rPr lang="en-US" altLang="ru-RU" sz="3200" dirty="0"/>
              <a:t> </a:t>
            </a:r>
            <a:r>
              <a:rPr lang="en-US" altLang="en-US" sz="3200" dirty="0"/>
              <a:t>на</a:t>
            </a:r>
            <a:r>
              <a:rPr lang="en-US" altLang="ru-RU" sz="3200" dirty="0"/>
              <a:t> </a:t>
            </a:r>
            <a:r>
              <a:rPr lang="en-US" altLang="en-US" sz="3200" dirty="0"/>
              <a:t>методологиях</a:t>
            </a:r>
            <a:r>
              <a:rPr lang="en-US" altLang="ru-RU" sz="3200" dirty="0"/>
              <a:t> Agile </a:t>
            </a:r>
            <a:r>
              <a:rPr lang="en-US" altLang="en-US" sz="3200" dirty="0"/>
              <a:t>и</a:t>
            </a:r>
            <a:r>
              <a:rPr lang="en-US" altLang="ru-RU" sz="3200" dirty="0"/>
              <a:t> Scrum, </a:t>
            </a:r>
            <a:r>
              <a:rPr lang="en-US" altLang="en-US" sz="3200" dirty="0"/>
              <a:t>сочетающей</a:t>
            </a:r>
            <a:r>
              <a:rPr lang="en-US" altLang="ru-RU" sz="3200" dirty="0"/>
              <a:t> </a:t>
            </a:r>
            <a:r>
              <a:rPr lang="en-US" altLang="en-US" sz="3200" dirty="0"/>
              <a:t>простоту</a:t>
            </a:r>
            <a:r>
              <a:rPr lang="en-US" altLang="ru-RU" sz="3200" dirty="0"/>
              <a:t> </a:t>
            </a:r>
            <a:r>
              <a:rPr lang="en-US" altLang="en-US" sz="3200" dirty="0"/>
              <a:t>интерфейса</a:t>
            </a:r>
            <a:r>
              <a:rPr lang="en-US" altLang="ru-RU" sz="3200" dirty="0"/>
              <a:t>, </a:t>
            </a:r>
            <a:r>
              <a:rPr lang="en-US" altLang="en-US" sz="3200" dirty="0"/>
              <a:t>гибкость</a:t>
            </a:r>
            <a:r>
              <a:rPr lang="en-US" altLang="ru-RU" sz="3200" dirty="0"/>
              <a:t> </a:t>
            </a:r>
            <a:r>
              <a:rPr lang="en-US" altLang="en-US" sz="3200" dirty="0"/>
              <a:t>настройки</a:t>
            </a:r>
            <a:r>
              <a:rPr lang="en-US" altLang="ru-RU" sz="3200" dirty="0"/>
              <a:t> </a:t>
            </a:r>
            <a:r>
              <a:rPr lang="en-US" altLang="en-US" sz="3200" dirty="0"/>
              <a:t>и</a:t>
            </a:r>
            <a:r>
              <a:rPr lang="en-US" altLang="ru-RU" sz="3200" dirty="0"/>
              <a:t> </a:t>
            </a:r>
            <a:r>
              <a:rPr lang="en-US" altLang="en-US" sz="3200" dirty="0"/>
              <a:t>встроенные</a:t>
            </a:r>
            <a:r>
              <a:rPr lang="en-US" altLang="ru-RU" sz="3200" dirty="0"/>
              <a:t> </a:t>
            </a:r>
            <a:r>
              <a:rPr lang="en-US" altLang="en-US" sz="3200" dirty="0"/>
              <a:t>средства</a:t>
            </a:r>
            <a:r>
              <a:rPr lang="en-US" altLang="ru-RU" sz="3200" dirty="0"/>
              <a:t> </a:t>
            </a:r>
            <a:r>
              <a:rPr lang="en-US" altLang="en-US" sz="3200" dirty="0"/>
              <a:t>аналитики</a:t>
            </a:r>
            <a:r>
              <a:rPr lang="en-US" altLang="ru-RU" sz="3200" dirty="0"/>
              <a:t> </a:t>
            </a:r>
            <a:r>
              <a:rPr lang="en-US" altLang="en-US" sz="3200" dirty="0"/>
              <a:t>для</a:t>
            </a:r>
            <a:r>
              <a:rPr lang="en-US" altLang="ru-RU" sz="3200" dirty="0"/>
              <a:t> </a:t>
            </a:r>
            <a:r>
              <a:rPr lang="en-US" altLang="en-US" sz="3200" dirty="0"/>
              <a:t>эффективной</a:t>
            </a:r>
            <a:r>
              <a:rPr lang="en-US" altLang="ru-RU" sz="3200" dirty="0"/>
              <a:t> </a:t>
            </a:r>
            <a:r>
              <a:rPr lang="en-US" altLang="en-US" sz="3200" dirty="0"/>
              <a:t>работы</a:t>
            </a:r>
            <a:r>
              <a:rPr lang="en-US" altLang="ru-RU" sz="3200" dirty="0"/>
              <a:t> </a:t>
            </a:r>
            <a:r>
              <a:rPr lang="en-US" altLang="en-US" sz="3200" dirty="0"/>
              <a:t>малых</a:t>
            </a:r>
            <a:r>
              <a:rPr lang="en-US" altLang="ru-RU" sz="3200" dirty="0"/>
              <a:t> </a:t>
            </a:r>
            <a:r>
              <a:rPr lang="en-US" altLang="en-US" sz="3200" dirty="0"/>
              <a:t>и</a:t>
            </a:r>
            <a:r>
              <a:rPr lang="en-US" altLang="ru-RU" sz="3200" dirty="0"/>
              <a:t> </a:t>
            </a:r>
            <a:r>
              <a:rPr lang="en-US" altLang="en-US" sz="3200" dirty="0"/>
              <a:t>средних</a:t>
            </a:r>
            <a:r>
              <a:rPr lang="en-US" altLang="ru-RU" sz="3200" dirty="0"/>
              <a:t> </a:t>
            </a:r>
            <a:r>
              <a:rPr lang="en-US" altLang="en-US" sz="3200" dirty="0"/>
              <a:t>команд</a:t>
            </a:r>
            <a:r>
              <a:rPr lang="en-US" altLang="ru-RU" sz="3200" dirty="0"/>
              <a:t>.</a:t>
            </a:r>
            <a:endParaRPr lang="ru-RU" sz="32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5400" b="1" dirty="0"/>
              <a:t>Проблема</a:t>
            </a:r>
            <a:endParaRPr lang="ru-RU" sz="6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2017527"/>
            <a:ext cx="10515600" cy="3272839"/>
          </a:xfrm>
        </p:spPr>
        <p:txBody>
          <a:bodyPr>
            <a:noAutofit/>
          </a:bodyPr>
          <a:lstStyle/>
          <a:p>
            <a:pPr marL="0" indent="457200">
              <a:buNone/>
            </a:pPr>
            <a:r>
              <a:rPr lang="en-US" altLang="en-US" sz="3200" dirty="0"/>
              <a:t>Существующие</a:t>
            </a:r>
            <a:r>
              <a:rPr lang="en-US" altLang="ru-RU" sz="3200" dirty="0"/>
              <a:t> </a:t>
            </a:r>
            <a:r>
              <a:rPr lang="en-US" altLang="en-US" sz="3200" dirty="0"/>
              <a:t>системы</a:t>
            </a:r>
            <a:r>
              <a:rPr lang="en-US" altLang="ru-RU" sz="3200" dirty="0"/>
              <a:t> </a:t>
            </a:r>
            <a:r>
              <a:rPr lang="en-US" altLang="en-US" sz="3200" dirty="0"/>
              <a:t>управления</a:t>
            </a:r>
            <a:r>
              <a:rPr lang="en-US" altLang="ru-RU" sz="3200" dirty="0"/>
              <a:t> </a:t>
            </a:r>
            <a:r>
              <a:rPr lang="en-US" altLang="en-US" sz="3200" dirty="0"/>
              <a:t>проектами</a:t>
            </a:r>
            <a:r>
              <a:rPr lang="en-US" altLang="ru-RU" sz="3200" dirty="0"/>
              <a:t>, </a:t>
            </a:r>
            <a:r>
              <a:rPr lang="en-US" altLang="en-US" sz="3200" dirty="0"/>
              <a:t>такие</a:t>
            </a:r>
            <a:r>
              <a:rPr lang="en-US" altLang="ru-RU" sz="3200" dirty="0"/>
              <a:t> </a:t>
            </a:r>
            <a:r>
              <a:rPr lang="en-US" altLang="en-US" sz="3200" dirty="0"/>
              <a:t>как</a:t>
            </a:r>
            <a:r>
              <a:rPr lang="en-US" altLang="ru-RU" sz="3200" dirty="0"/>
              <a:t> Jira, Trello </a:t>
            </a:r>
            <a:r>
              <a:rPr lang="en-US" altLang="en-US" sz="3200" dirty="0"/>
              <a:t>и</a:t>
            </a:r>
            <a:r>
              <a:rPr lang="en-US" altLang="ru-RU" sz="3200" dirty="0"/>
              <a:t> Asana, </a:t>
            </a:r>
            <a:r>
              <a:rPr lang="en-US" altLang="en-US" sz="3200" dirty="0"/>
              <a:t>либо</a:t>
            </a:r>
            <a:r>
              <a:rPr lang="en-US" altLang="ru-RU" sz="3200" dirty="0"/>
              <a:t> </a:t>
            </a:r>
            <a:r>
              <a:rPr lang="en-US" altLang="en-US" sz="3200" dirty="0"/>
              <a:t>избыточно</a:t>
            </a:r>
            <a:r>
              <a:rPr lang="en-US" altLang="ru-RU" sz="3200" dirty="0"/>
              <a:t> </a:t>
            </a:r>
            <a:r>
              <a:rPr lang="en-US" altLang="en-US" sz="3200" dirty="0"/>
              <a:t>сложны</a:t>
            </a:r>
            <a:r>
              <a:rPr lang="en-US" altLang="ru-RU" sz="3200" dirty="0"/>
              <a:t> </a:t>
            </a:r>
            <a:r>
              <a:rPr lang="en-US" altLang="en-US" sz="3200" dirty="0"/>
              <a:t>и</a:t>
            </a:r>
            <a:r>
              <a:rPr lang="en-US" altLang="ru-RU" sz="3200" dirty="0"/>
              <a:t> </a:t>
            </a:r>
            <a:r>
              <a:rPr lang="en-US" altLang="en-US" sz="3200" dirty="0"/>
              <a:t>требуют</a:t>
            </a:r>
            <a:r>
              <a:rPr lang="en-US" altLang="ru-RU" sz="3200" dirty="0"/>
              <a:t> </a:t>
            </a:r>
            <a:r>
              <a:rPr lang="en-US" altLang="en-US" sz="3200" dirty="0"/>
              <a:t>длительного</a:t>
            </a:r>
            <a:r>
              <a:rPr lang="en-US" altLang="ru-RU" sz="3200" dirty="0"/>
              <a:t> </a:t>
            </a:r>
            <a:r>
              <a:rPr lang="en-US" altLang="en-US" sz="3200" dirty="0"/>
              <a:t>обучения</a:t>
            </a:r>
            <a:r>
              <a:rPr lang="en-US" altLang="ru-RU" sz="3200" dirty="0"/>
              <a:t>, </a:t>
            </a:r>
            <a:r>
              <a:rPr lang="en-US" altLang="en-US" sz="3200" dirty="0"/>
              <a:t>либо</a:t>
            </a:r>
            <a:r>
              <a:rPr lang="en-US" altLang="ru-RU" sz="3200" dirty="0"/>
              <a:t> </a:t>
            </a:r>
            <a:r>
              <a:rPr lang="en-US" altLang="en-US" sz="3200" dirty="0"/>
              <a:t>не</a:t>
            </a:r>
            <a:r>
              <a:rPr lang="en-US" altLang="ru-RU" sz="3200" dirty="0"/>
              <a:t> </a:t>
            </a:r>
            <a:r>
              <a:rPr lang="en-US" altLang="en-US" sz="3200" dirty="0"/>
              <a:t>обеспечивают</a:t>
            </a:r>
            <a:r>
              <a:rPr lang="en-US" altLang="ru-RU" sz="3200" dirty="0"/>
              <a:t> </a:t>
            </a:r>
            <a:r>
              <a:rPr lang="en-US" altLang="en-US" sz="3200" dirty="0"/>
              <a:t>достаточной</a:t>
            </a:r>
            <a:r>
              <a:rPr lang="en-US" altLang="ru-RU" sz="3200" dirty="0"/>
              <a:t> </a:t>
            </a:r>
            <a:r>
              <a:rPr lang="en-US" altLang="en-US" sz="3200" dirty="0"/>
              <a:t>гибкости</a:t>
            </a:r>
            <a:r>
              <a:rPr lang="en-US" altLang="ru-RU" sz="3200" dirty="0"/>
              <a:t> </a:t>
            </a:r>
            <a:r>
              <a:rPr lang="en-US" altLang="en-US" sz="3200" dirty="0"/>
              <a:t>и</a:t>
            </a:r>
            <a:r>
              <a:rPr lang="en-US" altLang="ru-RU" sz="3200" dirty="0"/>
              <a:t> </a:t>
            </a:r>
            <a:r>
              <a:rPr lang="en-US" altLang="en-US" sz="3200" dirty="0"/>
              <a:t>аналитики</a:t>
            </a:r>
            <a:r>
              <a:rPr lang="en-US" altLang="ru-RU" sz="3200" dirty="0"/>
              <a:t>. </a:t>
            </a:r>
            <a:r>
              <a:rPr lang="en-US" altLang="en-US" sz="3200" dirty="0"/>
              <a:t>Это</a:t>
            </a:r>
            <a:r>
              <a:rPr lang="en-US" altLang="ru-RU" sz="3200" dirty="0"/>
              <a:t> </a:t>
            </a:r>
            <a:r>
              <a:rPr lang="en-US" altLang="en-US" sz="3200" dirty="0"/>
              <a:t>особенно</a:t>
            </a:r>
            <a:r>
              <a:rPr lang="en-US" altLang="ru-RU" sz="3200" dirty="0"/>
              <a:t> </a:t>
            </a:r>
            <a:r>
              <a:rPr lang="en-US" altLang="en-US" sz="3200" dirty="0"/>
              <a:t>затрудняет</a:t>
            </a:r>
            <a:r>
              <a:rPr lang="en-US" altLang="ru-RU" sz="3200" dirty="0"/>
              <a:t> </a:t>
            </a:r>
            <a:r>
              <a:rPr lang="en-US" altLang="en-US" sz="3200" dirty="0"/>
              <a:t>работу</a:t>
            </a:r>
            <a:r>
              <a:rPr lang="en-US" altLang="ru-RU" sz="3200" dirty="0"/>
              <a:t> </a:t>
            </a:r>
            <a:r>
              <a:rPr lang="en-US" altLang="en-US" sz="3200" dirty="0"/>
              <a:t>малых</a:t>
            </a:r>
            <a:r>
              <a:rPr lang="en-US" altLang="ru-RU" sz="3200" dirty="0"/>
              <a:t> </a:t>
            </a:r>
            <a:r>
              <a:rPr lang="en-US" altLang="en-US" sz="3200" dirty="0"/>
              <a:t>и</a:t>
            </a:r>
            <a:r>
              <a:rPr lang="en-US" altLang="ru-RU" sz="3200" dirty="0"/>
              <a:t> </a:t>
            </a:r>
            <a:r>
              <a:rPr lang="en-US" altLang="en-US" sz="3200" dirty="0"/>
              <a:t>средних</a:t>
            </a:r>
            <a:r>
              <a:rPr lang="en-US" altLang="ru-RU" sz="3200" dirty="0"/>
              <a:t> </a:t>
            </a:r>
            <a:r>
              <a:rPr lang="en-US" altLang="en-US" sz="3200" dirty="0"/>
              <a:t>команд</a:t>
            </a:r>
            <a:r>
              <a:rPr lang="en-US" altLang="ru-RU" sz="3200" dirty="0"/>
              <a:t>, </a:t>
            </a:r>
            <a:r>
              <a:rPr lang="en-US" altLang="en-US" sz="3200" dirty="0"/>
              <a:t>которым</a:t>
            </a:r>
            <a:r>
              <a:rPr lang="en-US" altLang="ru-RU" sz="3200" dirty="0"/>
              <a:t> </a:t>
            </a:r>
            <a:r>
              <a:rPr lang="en-US" altLang="en-US" sz="3200" dirty="0"/>
              <a:t>нужна</a:t>
            </a:r>
            <a:r>
              <a:rPr lang="en-US" altLang="ru-RU" sz="3200" dirty="0"/>
              <a:t> </a:t>
            </a:r>
            <a:r>
              <a:rPr lang="en-US" altLang="en-US" sz="3200" dirty="0"/>
              <a:t>интуитивно</a:t>
            </a:r>
            <a:r>
              <a:rPr lang="en-US" altLang="ru-RU" sz="3200" dirty="0"/>
              <a:t> </a:t>
            </a:r>
            <a:r>
              <a:rPr lang="en-US" altLang="en-US" sz="3200" dirty="0"/>
              <a:t>понятная</a:t>
            </a:r>
            <a:r>
              <a:rPr lang="en-US" altLang="ru-RU" sz="3200" dirty="0"/>
              <a:t> </a:t>
            </a:r>
            <a:r>
              <a:rPr lang="en-US" altLang="en-US" sz="3200" dirty="0"/>
              <a:t>и</a:t>
            </a:r>
            <a:r>
              <a:rPr lang="en-US" altLang="ru-RU" sz="3200" dirty="0"/>
              <a:t> </a:t>
            </a:r>
            <a:r>
              <a:rPr lang="en-US" altLang="en-US" sz="3200" dirty="0"/>
              <a:t>быстро</a:t>
            </a:r>
            <a:r>
              <a:rPr lang="en-US" altLang="ru-RU" sz="3200" dirty="0"/>
              <a:t> </a:t>
            </a:r>
            <a:r>
              <a:rPr lang="en-US" altLang="en-US" sz="3200" dirty="0"/>
              <a:t>внедряемая</a:t>
            </a:r>
            <a:r>
              <a:rPr lang="en-US" altLang="ru-RU" sz="3200" dirty="0"/>
              <a:t> </a:t>
            </a:r>
            <a:r>
              <a:rPr lang="en-US" altLang="en-US" sz="3200" dirty="0"/>
              <a:t>система</a:t>
            </a:r>
            <a:r>
              <a:rPr lang="en-US" altLang="ru-RU" sz="3200" dirty="0"/>
              <a:t>, </a:t>
            </a:r>
            <a:r>
              <a:rPr lang="en-US" altLang="en-US" sz="3200" dirty="0"/>
              <a:t>поддерживающая</a:t>
            </a:r>
            <a:r>
              <a:rPr lang="en-US" altLang="ru-RU" sz="3200" dirty="0"/>
              <a:t> </a:t>
            </a:r>
            <a:r>
              <a:rPr lang="en-US" altLang="en-US" sz="3200" dirty="0"/>
              <a:t>ключевые</a:t>
            </a:r>
            <a:r>
              <a:rPr lang="en-US" altLang="ru-RU" sz="3200" dirty="0"/>
              <a:t> </a:t>
            </a:r>
            <a:r>
              <a:rPr lang="en-US" altLang="en-US" sz="3200" dirty="0"/>
              <a:t>принципы</a:t>
            </a:r>
            <a:r>
              <a:rPr lang="en-US" altLang="ru-RU" sz="3200" dirty="0"/>
              <a:t> Agile </a:t>
            </a:r>
            <a:r>
              <a:rPr lang="en-US" altLang="en-US" sz="3200" dirty="0"/>
              <a:t>и</a:t>
            </a:r>
            <a:r>
              <a:rPr lang="en-US" altLang="ru-RU" sz="3200" dirty="0"/>
              <a:t> Scrum.</a:t>
            </a:r>
            <a:endParaRPr lang="en-US" altLang="ru-RU" sz="32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138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Проблема</a:t>
            </a:r>
            <a:endParaRPr lang="en-US" sz="2400" b="1" dirty="0">
              <a:solidFill>
                <a:schemeClr val="tx1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530352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blurRad="19050" dist="15240" dir="2700000" algn="bl" rotWithShape="0">
              <a:srgbClr val="000000">
                <a:alpha val="22000"/>
              </a:srgbClr>
            </a:outerShdw>
          </a:effectLst>
        </p:spPr>
        <p:txBody>
          <a:bodyPr/>
          <a:p>
            <a:endParaRPr lang="ru-RU" altLang="en-US"/>
          </a:p>
        </p:txBody>
      </p:sp>
      <p:sp>
        <p:nvSpPr>
          <p:cNvPr id="5" name="Text 3"/>
          <p:cNvSpPr/>
          <p:nvPr/>
        </p:nvSpPr>
        <p:spPr>
          <a:xfrm>
            <a:off x="932688" y="1490472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5CA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00200" y="1490472"/>
            <a:ext cx="4160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chemeClr val="tx1"/>
                </a:solidFill>
              </a:rPr>
              <a:t>Контекст проекта распадается между таблицами, мессенджерами и личными заметками.</a:t>
            </a:r>
            <a:endParaRPr lang="en-US" sz="1650" dirty="0">
              <a:solidFill>
                <a:schemeClr val="tx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731520" y="2670048"/>
            <a:ext cx="530352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blurRad="19050" dist="1524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83464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6D0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00200" y="2834640"/>
            <a:ext cx="4160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chemeClr val="tx1"/>
                </a:solidFill>
              </a:rPr>
              <a:t>Сложно быстро понять состояние спринта: что в работе, что заблокировано и что уже завершено.</a:t>
            </a:r>
            <a:endParaRPr lang="en-US" sz="1650" dirty="0">
              <a:solidFill>
                <a:schemeClr val="tx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731520" y="4014216"/>
            <a:ext cx="530352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blurRad="19050" dist="1524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32688" y="4178808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5CA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600200" y="4178808"/>
            <a:ext cx="4160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chemeClr val="tx1"/>
                </a:solidFill>
              </a:rPr>
              <a:t>Для учебной или небольшой команды тяжёлые корпоративные платформы часто избыточны по сложности.</a:t>
            </a:r>
            <a:endParaRPr lang="en-US" sz="1650" dirty="0">
              <a:solidFill>
                <a:schemeClr val="tx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6583680" y="1280160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Типичный разрыв инструментов</a:t>
            </a:r>
            <a:endParaRPr lang="en-US" sz="1300" dirty="0">
              <a:solidFill>
                <a:schemeClr val="tx1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629400" y="1691640"/>
            <a:ext cx="1508760" cy="512064"/>
          </a:xfrm>
          <a:prstGeom prst="roundRect">
            <a:avLst>
              <a:gd name="adj" fmla="val 10714"/>
            </a:avLst>
          </a:prstGeom>
          <a:solidFill>
            <a:schemeClr val="bg1"/>
          </a:solidFill>
          <a:ln w="12700">
            <a:solidFill>
              <a:srgbClr val="6B7AA8">
                <a:alpha val="60000"/>
              </a:srgbClr>
            </a:solidFill>
            <a:prstDash val="solid"/>
          </a:ln>
          <a:effectLst>
            <a:outerShdw blurRad="12700" dist="1016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29400" y="1856232"/>
            <a:ext cx="150876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чаты</a:t>
            </a:r>
            <a:endParaRPr lang="en-US" sz="1300" dirty="0">
              <a:solidFill>
                <a:schemeClr val="tx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366760" y="1691640"/>
            <a:ext cx="1508760" cy="512064"/>
          </a:xfrm>
          <a:prstGeom prst="roundRect">
            <a:avLst>
              <a:gd name="adj" fmla="val 10714"/>
            </a:avLst>
          </a:prstGeom>
          <a:solidFill>
            <a:schemeClr val="bg1"/>
          </a:solidFill>
          <a:ln w="12700">
            <a:solidFill>
              <a:srgbClr val="6B7AA8">
                <a:alpha val="60000"/>
              </a:srgbClr>
            </a:solidFill>
            <a:prstDash val="solid"/>
          </a:ln>
          <a:effectLst>
            <a:outerShdw blurRad="12700" dist="1016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66760" y="1856232"/>
            <a:ext cx="150876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таблицы</a:t>
            </a:r>
            <a:endParaRPr lang="en-US" sz="1300" dirty="0">
              <a:solidFill>
                <a:schemeClr val="tx1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0104120" y="1691640"/>
            <a:ext cx="1508760" cy="512064"/>
          </a:xfrm>
          <a:prstGeom prst="roundRect">
            <a:avLst>
              <a:gd name="adj" fmla="val 10714"/>
            </a:avLst>
          </a:prstGeom>
          <a:solidFill>
            <a:schemeClr val="bg1"/>
          </a:solidFill>
          <a:ln w="12700">
            <a:solidFill>
              <a:srgbClr val="6B7AA8">
                <a:alpha val="60000"/>
              </a:srgbClr>
            </a:solidFill>
            <a:prstDash val="solid"/>
          </a:ln>
          <a:effectLst>
            <a:outerShdw blurRad="12700" dist="1016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104120" y="1856232"/>
            <a:ext cx="150876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заметки</a:t>
            </a:r>
            <a:endParaRPr lang="en-US" sz="1300" dirty="0">
              <a:solidFill>
                <a:schemeClr val="tx1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909560" y="3840480"/>
            <a:ext cx="3108960" cy="731520"/>
          </a:xfrm>
          <a:prstGeom prst="roundRect">
            <a:avLst>
              <a:gd name="adj" fmla="val 10000"/>
            </a:avLst>
          </a:prstGeom>
          <a:solidFill>
            <a:srgbClr val="402038"/>
          </a:solidFill>
          <a:ln w="19050">
            <a:solidFill>
              <a:srgbClr val="FF6B6B">
                <a:alpha val="7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3968496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0F0"/>
                </a:solidFill>
              </a:rPr>
              <a:t>потеря прозрачности и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0F0"/>
                </a:solidFill>
              </a:rPr>
              <a:t>ручная синхронизация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7360920" y="2203704"/>
            <a:ext cx="1280160" cy="1499616"/>
          </a:xfrm>
          <a:prstGeom prst="line">
            <a:avLst/>
          </a:prstGeom>
          <a:noFill/>
          <a:ln w="15240">
            <a:solidFill>
              <a:srgbClr val="7C8CC4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851392" y="2203704"/>
            <a:ext cx="246888" cy="1499616"/>
          </a:xfrm>
          <a:prstGeom prst="line">
            <a:avLst/>
          </a:prstGeom>
          <a:noFill/>
          <a:ln w="15240">
            <a:solidFill>
              <a:srgbClr val="7C8CC4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189720" y="2203704"/>
            <a:ext cx="1645920" cy="1499616"/>
          </a:xfrm>
          <a:prstGeom prst="line">
            <a:avLst/>
          </a:prstGeom>
          <a:noFill/>
          <a:ln w="15240">
            <a:solidFill>
              <a:srgbClr val="7C8CC4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406640" y="5074920"/>
            <a:ext cx="4114800" cy="749808"/>
          </a:xfrm>
          <a:prstGeom prst="roundRect">
            <a:avLst>
              <a:gd name="adj" fmla="val 9756"/>
            </a:avLst>
          </a:prstGeom>
          <a:solidFill>
            <a:schemeClr val="bg1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blurRad="19050" dist="1524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635240" y="5303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chemeClr val="tx1"/>
                </a:solidFill>
              </a:rPr>
              <a:t>Следствие: выше риск просрочек, дублирования задач и потери общего видения спринта.</a:t>
            </a:r>
            <a:endParaRPr lang="en-US" sz="1450" dirty="0">
              <a:solidFill>
                <a:schemeClr val="tx1"/>
              </a:solidFill>
            </a:endParaRPr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B93A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65405"/>
            <a:ext cx="10515600" cy="1325563"/>
          </a:xfrm>
        </p:spPr>
        <p:txBody>
          <a:bodyPr>
            <a:normAutofit/>
          </a:bodyPr>
          <a:lstStyle/>
          <a:p>
            <a:r>
              <a:rPr lang="ru-RU" sz="5400" b="1" dirty="0"/>
              <a:t>Решение</a:t>
            </a:r>
            <a:endParaRPr lang="ru-RU" sz="6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88035" y="1308051"/>
            <a:ext cx="10515600" cy="3272839"/>
          </a:xfrm>
        </p:spPr>
        <p:txBody>
          <a:bodyPr>
            <a:noAutofit/>
          </a:bodyPr>
          <a:lstStyle/>
          <a:p>
            <a:r>
              <a:rPr lang="en-US" altLang="en-US" dirty="0"/>
              <a:t>Разработка</a:t>
            </a:r>
            <a:r>
              <a:rPr lang="en-US" altLang="ru-RU" dirty="0"/>
              <a:t> </a:t>
            </a:r>
            <a:r>
              <a:rPr lang="en-US" altLang="en-US" dirty="0"/>
              <a:t>собственной</a:t>
            </a:r>
            <a:r>
              <a:rPr lang="en-US" altLang="ru-RU" dirty="0"/>
              <a:t> </a:t>
            </a:r>
            <a:r>
              <a:rPr lang="en-US" altLang="en-US" dirty="0"/>
              <a:t>системы</a:t>
            </a:r>
            <a:r>
              <a:rPr lang="en-US" altLang="ru-RU" dirty="0"/>
              <a:t> </a:t>
            </a:r>
            <a:r>
              <a:rPr lang="en-US" altLang="en-US" dirty="0"/>
              <a:t>управления</a:t>
            </a:r>
            <a:r>
              <a:rPr lang="en-US" altLang="ru-RU" dirty="0"/>
              <a:t> </a:t>
            </a:r>
            <a:r>
              <a:rPr lang="en-US" altLang="en-US" dirty="0"/>
              <a:t>проектами</a:t>
            </a:r>
            <a:r>
              <a:rPr lang="en-US" altLang="ru-RU" dirty="0"/>
              <a:t>, </a:t>
            </a:r>
            <a:r>
              <a:rPr lang="en-US" altLang="en-US" dirty="0"/>
              <a:t>основанной</a:t>
            </a:r>
            <a:r>
              <a:rPr lang="en-US" altLang="ru-RU" dirty="0"/>
              <a:t> </a:t>
            </a:r>
            <a:r>
              <a:rPr lang="en-US" altLang="en-US" dirty="0"/>
              <a:t>на</a:t>
            </a:r>
            <a:r>
              <a:rPr lang="en-US" altLang="ru-RU" dirty="0"/>
              <a:t> </a:t>
            </a:r>
            <a:r>
              <a:rPr lang="en-US" altLang="en-US" dirty="0"/>
              <a:t>методологиях</a:t>
            </a:r>
            <a:r>
              <a:rPr lang="en-US" altLang="ru-RU" dirty="0"/>
              <a:t> Agile </a:t>
            </a:r>
            <a:r>
              <a:rPr lang="en-US" altLang="en-US" dirty="0"/>
              <a:t>и</a:t>
            </a:r>
            <a:r>
              <a:rPr lang="en-US" altLang="ru-RU" dirty="0"/>
              <a:t> Scrum, </a:t>
            </a:r>
            <a:r>
              <a:rPr lang="en-US" altLang="en-US" dirty="0"/>
              <a:t>которая</a:t>
            </a:r>
            <a:r>
              <a:rPr lang="en-US" altLang="ru-RU" dirty="0"/>
              <a:t> </a:t>
            </a:r>
            <a:r>
              <a:rPr lang="en-US" altLang="en-US" dirty="0"/>
              <a:t>сочетает</a:t>
            </a:r>
            <a:r>
              <a:rPr lang="en-US" altLang="ru-RU" dirty="0"/>
              <a:t>:</a:t>
            </a:r>
            <a:endParaRPr lang="en-US" altLang="ru-RU" dirty="0"/>
          </a:p>
          <a:p>
            <a:r>
              <a:rPr lang="en-US" altLang="en-US" dirty="0"/>
              <a:t>Простоту</a:t>
            </a:r>
            <a:r>
              <a:rPr lang="en-US" altLang="ru-RU" dirty="0"/>
              <a:t> </a:t>
            </a:r>
            <a:r>
              <a:rPr lang="en-US" altLang="en-US" dirty="0"/>
              <a:t>интерфейса</a:t>
            </a:r>
            <a:r>
              <a:rPr lang="en-US" altLang="ru-RU" dirty="0"/>
              <a:t> (</a:t>
            </a:r>
            <a:r>
              <a:rPr lang="en-US" altLang="en-US" dirty="0"/>
              <a:t>как</a:t>
            </a:r>
            <a:r>
              <a:rPr lang="en-US" altLang="ru-RU" dirty="0"/>
              <a:t> </a:t>
            </a:r>
            <a:r>
              <a:rPr lang="en-US" altLang="en-US" dirty="0"/>
              <a:t>у</a:t>
            </a:r>
            <a:r>
              <a:rPr lang="en-US" altLang="ru-RU" dirty="0"/>
              <a:t> Trello),</a:t>
            </a:r>
            <a:endParaRPr lang="en-US" altLang="ru-RU" dirty="0"/>
          </a:p>
          <a:p>
            <a:r>
              <a:rPr lang="en-US" altLang="en-US" dirty="0"/>
              <a:t>Гибкость</a:t>
            </a:r>
            <a:r>
              <a:rPr lang="en-US" altLang="ru-RU" dirty="0"/>
              <a:t> </a:t>
            </a:r>
            <a:r>
              <a:rPr lang="en-US" altLang="en-US" dirty="0"/>
              <a:t>настройки</a:t>
            </a:r>
            <a:r>
              <a:rPr lang="en-US" altLang="ru-RU" dirty="0"/>
              <a:t> </a:t>
            </a:r>
            <a:r>
              <a:rPr lang="en-US" altLang="en-US" dirty="0"/>
              <a:t>процессов</a:t>
            </a:r>
            <a:r>
              <a:rPr lang="en-US" altLang="ru-RU" dirty="0"/>
              <a:t> (</a:t>
            </a:r>
            <a:r>
              <a:rPr lang="en-US" altLang="en-US" dirty="0"/>
              <a:t>как</a:t>
            </a:r>
            <a:r>
              <a:rPr lang="en-US" altLang="ru-RU" dirty="0"/>
              <a:t> </a:t>
            </a:r>
            <a:r>
              <a:rPr lang="en-US" altLang="en-US" dirty="0"/>
              <a:t>у</a:t>
            </a:r>
            <a:r>
              <a:rPr lang="en-US" altLang="ru-RU" dirty="0"/>
              <a:t> YouTrack),</a:t>
            </a:r>
            <a:endParaRPr lang="en-US" altLang="ru-RU" dirty="0"/>
          </a:p>
          <a:p>
            <a:r>
              <a:rPr lang="en-US" altLang="en-US" dirty="0"/>
              <a:t>Встроенные</a:t>
            </a:r>
            <a:r>
              <a:rPr lang="en-US" altLang="ru-RU" dirty="0"/>
              <a:t> </a:t>
            </a:r>
            <a:r>
              <a:rPr lang="en-US" altLang="en-US" dirty="0"/>
              <a:t>средства</a:t>
            </a:r>
            <a:r>
              <a:rPr lang="en-US" altLang="ru-RU" dirty="0"/>
              <a:t> </a:t>
            </a:r>
            <a:r>
              <a:rPr lang="en-US" altLang="en-US" dirty="0"/>
              <a:t>аналитики</a:t>
            </a:r>
            <a:r>
              <a:rPr lang="en-US" altLang="ru-RU" dirty="0"/>
              <a:t> </a:t>
            </a:r>
            <a:r>
              <a:rPr lang="en-US" altLang="en-US" dirty="0"/>
              <a:t>и</a:t>
            </a:r>
            <a:r>
              <a:rPr lang="en-US" altLang="ru-RU" dirty="0"/>
              <a:t> </a:t>
            </a:r>
            <a:r>
              <a:rPr lang="en-US" altLang="en-US" dirty="0"/>
              <a:t>отчётности</a:t>
            </a:r>
            <a:r>
              <a:rPr lang="en-US" altLang="ru-RU" dirty="0"/>
              <a:t> (</a:t>
            </a:r>
            <a:r>
              <a:rPr lang="en-US" altLang="en-US" dirty="0"/>
              <a:t>как</a:t>
            </a:r>
            <a:r>
              <a:rPr lang="en-US" altLang="ru-RU" dirty="0"/>
              <a:t> </a:t>
            </a:r>
            <a:r>
              <a:rPr lang="en-US" altLang="en-US" dirty="0"/>
              <a:t>у</a:t>
            </a:r>
            <a:r>
              <a:rPr lang="en-US" altLang="ru-RU" dirty="0"/>
              <a:t> Jira),</a:t>
            </a:r>
            <a:endParaRPr lang="en-US" altLang="ru-RU" dirty="0"/>
          </a:p>
          <a:p>
            <a:r>
              <a:rPr lang="en-US" altLang="en-US" dirty="0"/>
              <a:t>Поддержку</a:t>
            </a:r>
            <a:r>
              <a:rPr lang="en-US" altLang="ru-RU" dirty="0"/>
              <a:t> </a:t>
            </a:r>
            <a:r>
              <a:rPr lang="en-US" altLang="en-US" dirty="0"/>
              <a:t>ролей</a:t>
            </a:r>
            <a:r>
              <a:rPr lang="en-US" altLang="ru-RU" dirty="0"/>
              <a:t> Scrum, </a:t>
            </a:r>
            <a:r>
              <a:rPr lang="en-US" altLang="en-US" dirty="0"/>
              <a:t>спринтов</a:t>
            </a:r>
            <a:r>
              <a:rPr lang="en-US" altLang="ru-RU" dirty="0"/>
              <a:t>, </a:t>
            </a:r>
            <a:r>
              <a:rPr lang="en-US" altLang="en-US" dirty="0"/>
              <a:t>канбан</a:t>
            </a:r>
            <a:r>
              <a:rPr lang="en-US" altLang="ru-RU" dirty="0"/>
              <a:t>-</a:t>
            </a:r>
            <a:r>
              <a:rPr lang="en-US" altLang="en-US" dirty="0"/>
              <a:t>доски</a:t>
            </a:r>
            <a:r>
              <a:rPr lang="en-US" altLang="ru-RU" dirty="0"/>
              <a:t>, </a:t>
            </a:r>
            <a:r>
              <a:rPr lang="en-US" altLang="en-US" dirty="0"/>
              <a:t>а</a:t>
            </a:r>
            <a:r>
              <a:rPr lang="en-US" altLang="ru-RU" dirty="0"/>
              <a:t> </a:t>
            </a:r>
            <a:r>
              <a:rPr lang="en-US" altLang="en-US" dirty="0"/>
              <a:t>также</a:t>
            </a:r>
            <a:r>
              <a:rPr lang="en-US" altLang="ru-RU" dirty="0"/>
              <a:t> </a:t>
            </a:r>
            <a:r>
              <a:rPr lang="en-US" altLang="en-US" dirty="0"/>
              <a:t>интерактивного</a:t>
            </a:r>
            <a:r>
              <a:rPr lang="en-US" altLang="ru-RU" dirty="0"/>
              <a:t> </a:t>
            </a:r>
            <a:r>
              <a:rPr lang="en-US" altLang="en-US" dirty="0"/>
              <a:t>взаимодействия</a:t>
            </a:r>
            <a:endParaRPr lang="en-US" altLang="ru-RU" dirty="0"/>
          </a:p>
          <a:p>
            <a:r>
              <a:rPr lang="en-US" altLang="en-US" dirty="0"/>
              <a:t>И</a:t>
            </a:r>
            <a:r>
              <a:rPr lang="en-US" altLang="ru-RU" dirty="0"/>
              <a:t> </a:t>
            </a:r>
            <a:r>
              <a:rPr lang="en-US" altLang="en-US" dirty="0"/>
              <a:t>возможность</a:t>
            </a:r>
            <a:r>
              <a:rPr lang="en-US" altLang="ru-RU" dirty="0"/>
              <a:t> </a:t>
            </a:r>
            <a:r>
              <a:rPr lang="en-US" altLang="en-US" dirty="0"/>
              <a:t>быстрого</a:t>
            </a:r>
            <a:r>
              <a:rPr lang="en-US" altLang="ru-RU" dirty="0"/>
              <a:t> </a:t>
            </a:r>
            <a:r>
              <a:rPr lang="en-US" altLang="en-US" dirty="0"/>
              <a:t>внедрения</a:t>
            </a:r>
            <a:r>
              <a:rPr lang="en-US" altLang="ru-RU" dirty="0"/>
              <a:t> </a:t>
            </a:r>
            <a:r>
              <a:rPr lang="en-US" altLang="en-US" dirty="0"/>
              <a:t>и</a:t>
            </a:r>
            <a:r>
              <a:rPr lang="en-US" altLang="ru-RU" dirty="0"/>
              <a:t> </a:t>
            </a:r>
            <a:r>
              <a:rPr lang="en-US" altLang="en-US" dirty="0"/>
              <a:t>масштабирования</a:t>
            </a:r>
            <a:r>
              <a:rPr lang="en-US" altLang="ru-RU" dirty="0"/>
              <a:t> </a:t>
            </a:r>
            <a:r>
              <a:rPr lang="en-US" altLang="en-US" dirty="0"/>
              <a:t>без</a:t>
            </a:r>
            <a:r>
              <a:rPr lang="en-US" altLang="ru-RU" dirty="0"/>
              <a:t> </a:t>
            </a:r>
            <a:r>
              <a:rPr lang="en-US" altLang="en-US" dirty="0"/>
              <a:t>необходимости</a:t>
            </a:r>
            <a:r>
              <a:rPr lang="en-US" altLang="ru-RU" dirty="0"/>
              <a:t> </a:t>
            </a:r>
            <a:r>
              <a:rPr lang="en-US" altLang="en-US" dirty="0"/>
              <a:t>в</a:t>
            </a:r>
            <a:r>
              <a:rPr lang="en-US" altLang="ru-RU" dirty="0"/>
              <a:t> </a:t>
            </a:r>
            <a:r>
              <a:rPr lang="en-US" altLang="en-US" dirty="0"/>
              <a:t>сложной</a:t>
            </a:r>
            <a:r>
              <a:rPr lang="en-US" altLang="ru-RU" dirty="0"/>
              <a:t> </a:t>
            </a:r>
            <a:r>
              <a:rPr lang="en-US" altLang="en-US" dirty="0"/>
              <a:t>настройке</a:t>
            </a:r>
            <a:r>
              <a:rPr lang="en-US" altLang="ru-RU" dirty="0"/>
              <a:t> </a:t>
            </a:r>
            <a:r>
              <a:rPr lang="en-US" altLang="en-US" dirty="0"/>
              <a:t>или</a:t>
            </a:r>
            <a:r>
              <a:rPr lang="en-US" altLang="ru-RU" dirty="0"/>
              <a:t> </a:t>
            </a:r>
            <a:r>
              <a:rPr lang="en-US" altLang="en-US" dirty="0"/>
              <a:t>сторонних</a:t>
            </a:r>
            <a:r>
              <a:rPr lang="en-US" altLang="ru-RU" dirty="0"/>
              <a:t> </a:t>
            </a:r>
            <a:r>
              <a:rPr lang="en-US" altLang="en-US" dirty="0"/>
              <a:t>плагинах</a:t>
            </a:r>
            <a:r>
              <a:rPr lang="en-US" altLang="ru-RU" dirty="0"/>
              <a:t>.</a:t>
            </a:r>
            <a:endParaRPr lang="en-US" alt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138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Цель и решение</a:t>
            </a:r>
            <a:endParaRPr lang="en-US" sz="2400" b="1" dirty="0">
              <a:solidFill>
                <a:schemeClr val="tx1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3886200" cy="4526280"/>
          </a:xfrm>
          <a:prstGeom prst="roundRect">
            <a:avLst>
              <a:gd name="adj" fmla="val 1882"/>
            </a:avLst>
          </a:prstGeom>
          <a:solidFill>
            <a:schemeClr val="bg1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blurRad="19050" dist="1524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6615" y="1844675"/>
            <a:ext cx="3246120" cy="10058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Создать понятную и технологически целостную систему для управления Scrum‑проектом: от авторизации до просмотра проекта, спринтов и задач на реальных данных.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856615" y="3734562"/>
            <a:ext cx="3246120" cy="10789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chemeClr val="tx1"/>
                </a:solidFill>
              </a:rPr>
              <a:t>Вместо набора разрозненных инструментов пользователь получает единую веб‑среду, в которой все сущности связаны между собой: проект → спринт → задача → комментарии.</a:t>
            </a:r>
            <a:endParaRPr lang="en-US" sz="1650" dirty="0">
              <a:solidFill>
                <a:schemeClr val="tx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4983480" y="1417320"/>
            <a:ext cx="292608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blurRad="19050" dist="1524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148072" y="1600200"/>
            <a:ext cx="259689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Прозрачность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5148072" y="1929384"/>
            <a:ext cx="2596896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Статусы, спринты и список задач отображаются в одном месте.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028432" y="1417320"/>
            <a:ext cx="342900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blurRad="19050" dist="1524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93024" y="1600200"/>
            <a:ext cx="309981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Реальные данные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8193024" y="1929384"/>
            <a:ext cx="3099816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Prisma + PostgreSQL вместо mock‑слоя и демо‑метрик.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983480" y="3246120"/>
            <a:ext cx="292608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blurRad="19050" dist="15240" dir="2700000" algn="bl" rotWithShape="0">
              <a:srgbClr val="000000">
                <a:alpha val="22000"/>
              </a:srgbClr>
            </a:outerShdw>
          </a:effectLst>
        </p:spPr>
        <p:txBody>
          <a:bodyPr/>
          <a:p>
            <a:r>
              <a:rPr lang="ru-RU" altLang="en-US"/>
              <a:t> </a:t>
            </a:r>
            <a:endParaRPr lang="ru-RU" altLang="en-US"/>
          </a:p>
        </p:txBody>
      </p:sp>
      <p:sp>
        <p:nvSpPr>
          <p:cNvPr id="16" name="Text 14"/>
          <p:cNvSpPr/>
          <p:nvPr/>
        </p:nvSpPr>
        <p:spPr>
          <a:xfrm>
            <a:off x="5148072" y="3429000"/>
            <a:ext cx="259689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Понятная навигация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5148072" y="3758184"/>
            <a:ext cx="2596896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Dashboard, Projects, Project Details и страницы задач связаны в единый workflow.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028432" y="3246120"/>
            <a:ext cx="342900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blurRad="19050" dist="1524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193024" y="3429000"/>
            <a:ext cx="309981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Фокус на Scrum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8193024" y="3758184"/>
            <a:ext cx="3099816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Проекты, спринты, задачи и планируемое развитие в сторону backlog / board.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B93A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 b="1"/>
              <a:t>Преимущества</a:t>
            </a:r>
            <a:endParaRPr lang="ru-RU" altLang="en-US" b="1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b="1"/>
              <a:t>Технические</a:t>
            </a:r>
            <a:r>
              <a:rPr lang="en-US" altLang="ru-RU" b="1"/>
              <a:t> </a:t>
            </a:r>
            <a:r>
              <a:rPr lang="en-US" altLang="en-US" b="1"/>
              <a:t>преимущества</a:t>
            </a:r>
            <a:endParaRPr lang="en-US" altLang="en-US" b="1"/>
          </a:p>
          <a:p>
            <a:r>
              <a:rPr lang="en-US" altLang="en-US" b="1"/>
              <a:t>Современный</a:t>
            </a:r>
            <a:r>
              <a:rPr lang="en-US" altLang="ru-RU" b="1"/>
              <a:t> </a:t>
            </a:r>
            <a:r>
              <a:rPr lang="en-US" altLang="en-US" b="1"/>
              <a:t>стек</a:t>
            </a:r>
            <a:r>
              <a:rPr lang="en-US" altLang="ru-RU" b="1"/>
              <a:t> </a:t>
            </a:r>
            <a:r>
              <a:rPr lang="en-US" altLang="en-US" b="1"/>
              <a:t>технологий</a:t>
            </a:r>
            <a:endParaRPr lang="en-US" altLang="en-US" b="1"/>
          </a:p>
          <a:p>
            <a:r>
              <a:rPr lang="en-US" altLang="en-US" b="1"/>
              <a:t>Архитектурные</a:t>
            </a:r>
            <a:r>
              <a:rPr lang="en-US" altLang="ru-RU" b="1"/>
              <a:t> </a:t>
            </a:r>
            <a:r>
              <a:rPr lang="en-US" altLang="en-US" b="1"/>
              <a:t>решения</a:t>
            </a:r>
            <a:endParaRPr lang="en-US" altLang="en-US" b="1"/>
          </a:p>
          <a:p>
            <a:pPr marL="0" indent="0">
              <a:buNone/>
            </a:pPr>
            <a:r>
              <a:rPr lang="en-US" altLang="en-US" b="1"/>
              <a:t>Функциональные</a:t>
            </a:r>
            <a:r>
              <a:rPr lang="en-US" altLang="ru-RU" b="1"/>
              <a:t> </a:t>
            </a:r>
            <a:r>
              <a:rPr lang="en-US" altLang="en-US" b="1"/>
              <a:t>преимущества</a:t>
            </a:r>
            <a:r>
              <a:rPr lang="en-US" altLang="ru-RU" b="1"/>
              <a:t>:</a:t>
            </a:r>
            <a:endParaRPr lang="en-US" altLang="ru-RU" b="1"/>
          </a:p>
          <a:p>
            <a:pPr algn="l"/>
            <a:r>
              <a:rPr lang="en-US" altLang="en-US" b="1"/>
              <a:t>Управление</a:t>
            </a:r>
            <a:r>
              <a:rPr lang="en-US" altLang="ru-RU" b="1"/>
              <a:t> </a:t>
            </a:r>
            <a:r>
              <a:rPr lang="en-US" altLang="en-US" b="1"/>
              <a:t>проектами</a:t>
            </a:r>
            <a:r>
              <a:rPr lang="en-US" altLang="ru-RU" b="1"/>
              <a:t>:</a:t>
            </a:r>
            <a:endParaRPr lang="en-US" altLang="ru-RU" b="1"/>
          </a:p>
          <a:p>
            <a:pPr algn="l"/>
            <a:r>
              <a:rPr lang="en-US" altLang="en-US" b="1"/>
              <a:t>Управление</a:t>
            </a:r>
            <a:r>
              <a:rPr lang="en-US" altLang="ru-RU" b="1"/>
              <a:t> </a:t>
            </a:r>
            <a:r>
              <a:rPr lang="en-US" altLang="en-US" b="1"/>
              <a:t>спринтами</a:t>
            </a:r>
            <a:r>
              <a:rPr lang="en-US" altLang="ru-RU" b="1"/>
              <a:t>:</a:t>
            </a:r>
            <a:endParaRPr lang="en-US" altLang="ru-RU" b="1"/>
          </a:p>
          <a:p>
            <a:pPr algn="l"/>
            <a:r>
              <a:rPr lang="en-US" altLang="en-US" b="1"/>
              <a:t>Управление</a:t>
            </a:r>
            <a:r>
              <a:rPr lang="en-US" altLang="ru-RU" b="1"/>
              <a:t> </a:t>
            </a:r>
            <a:r>
              <a:rPr lang="en-US" altLang="en-US" b="1"/>
              <a:t>задачами</a:t>
            </a:r>
            <a:r>
              <a:rPr lang="en-US" altLang="ru-RU" b="1"/>
              <a:t>:</a:t>
            </a:r>
            <a:endParaRPr lang="en-US" altLang="ru-RU" b="1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138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Основные задачи проекта</a:t>
            </a:r>
            <a:endParaRPr lang="en-US" sz="2400" b="1" dirty="0">
              <a:solidFill>
                <a:schemeClr val="tx1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2084832" y="3182112"/>
            <a:ext cx="1143000" cy="0"/>
          </a:xfrm>
          <a:prstGeom prst="line">
            <a:avLst/>
          </a:prstGeom>
          <a:noFill/>
          <a:ln w="25400">
            <a:solidFill>
              <a:srgbClr val="5F6FA7"/>
            </a:solidFill>
            <a:prstDash val="solid"/>
            <a:tailEnd type="triangle"/>
          </a:ln>
        </p:spPr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4297680" y="3182112"/>
            <a:ext cx="1143000" cy="0"/>
          </a:xfrm>
          <a:prstGeom prst="line">
            <a:avLst/>
          </a:prstGeom>
          <a:noFill/>
          <a:ln w="25400">
            <a:solidFill>
              <a:srgbClr val="5F6FA7"/>
            </a:solidFill>
            <a:prstDash val="solid"/>
            <a:tailEnd type="triangle"/>
          </a:ln>
        </p:spPr>
      </p:sp>
      <p:sp>
        <p:nvSpPr>
          <p:cNvPr id="6" name="Shape 4"/>
          <p:cNvSpPr/>
          <p:nvPr>
            <p:custDataLst>
              <p:tags r:id="rId3"/>
            </p:custDataLst>
          </p:nvPr>
        </p:nvSpPr>
        <p:spPr>
          <a:xfrm>
            <a:off x="6510528" y="3182112"/>
            <a:ext cx="1143000" cy="0"/>
          </a:xfrm>
          <a:prstGeom prst="line">
            <a:avLst/>
          </a:prstGeom>
          <a:noFill/>
          <a:ln w="25400">
            <a:solidFill>
              <a:srgbClr val="5F6FA7"/>
            </a:solidFill>
            <a:prstDash val="solid"/>
            <a:tailEnd type="triangle"/>
          </a:ln>
        </p:spPr>
      </p:sp>
      <p:sp>
        <p:nvSpPr>
          <p:cNvPr id="7" name="Shape 5"/>
          <p:cNvSpPr/>
          <p:nvPr>
            <p:custDataLst>
              <p:tags r:id="rId4"/>
            </p:custDataLst>
          </p:nvPr>
        </p:nvSpPr>
        <p:spPr>
          <a:xfrm>
            <a:off x="8723376" y="3182112"/>
            <a:ext cx="1143000" cy="0"/>
          </a:xfrm>
          <a:prstGeom prst="line">
            <a:avLst/>
          </a:prstGeom>
          <a:noFill/>
          <a:ln w="25400">
            <a:solidFill>
              <a:srgbClr val="5F6FA7"/>
            </a:solidFill>
            <a:prstDash val="solid"/>
            <a:tailEnd type="triangle"/>
          </a:ln>
        </p:spPr>
      </p:sp>
      <p:sp>
        <p:nvSpPr>
          <p:cNvPr id="8" name="Shape 6"/>
          <p:cNvSpPr/>
          <p:nvPr>
            <p:custDataLst>
              <p:tags r:id="rId5"/>
            </p:custDataLst>
          </p:nvPr>
        </p:nvSpPr>
        <p:spPr>
          <a:xfrm>
            <a:off x="1307592" y="1508760"/>
            <a:ext cx="493776" cy="493776"/>
          </a:xfrm>
          <a:prstGeom prst="ellipse">
            <a:avLst/>
          </a:prstGeom>
          <a:solidFill>
            <a:srgbClr val="7C5C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>
            <p:custDataLst>
              <p:tags r:id="rId6"/>
            </p:custDataLst>
          </p:nvPr>
        </p:nvSpPr>
        <p:spPr>
          <a:xfrm>
            <a:off x="1307592" y="1673352"/>
            <a:ext cx="493776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01</a:t>
            </a:r>
            <a:endParaRPr lang="en-US" sz="1050" dirty="0"/>
          </a:p>
        </p:txBody>
      </p:sp>
      <p:sp>
        <p:nvSpPr>
          <p:cNvPr id="10" name="Shape 8"/>
          <p:cNvSpPr/>
          <p:nvPr>
            <p:custDataLst>
              <p:tags r:id="rId7"/>
            </p:custDataLst>
          </p:nvPr>
        </p:nvSpPr>
        <p:spPr>
          <a:xfrm>
            <a:off x="731520" y="2148840"/>
            <a:ext cx="1783080" cy="228600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blurRad="19050" dist="1524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859536" y="2359152"/>
            <a:ext cx="152704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Анализ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2" name="Text 10"/>
          <p:cNvSpPr/>
          <p:nvPr>
            <p:custDataLst>
              <p:tags r:id="rId9"/>
            </p:custDataLst>
          </p:nvPr>
        </p:nvSpPr>
        <p:spPr>
          <a:xfrm>
            <a:off x="877824" y="2743200"/>
            <a:ext cx="1499616" cy="12070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chemeClr val="tx1"/>
                </a:solidFill>
              </a:rPr>
              <a:t>• </a:t>
            </a:r>
            <a:r>
              <a:rPr lang="en-US" sz="1280" dirty="0">
                <a:solidFill>
                  <a:schemeClr val="tx1"/>
                </a:solidFill>
              </a:rPr>
              <a:t>определить проблемы Scrum‑workflow
</a:t>
            </a:r>
            <a:r>
              <a:rPr lang="en-US" sz="1280" b="1" dirty="0">
                <a:solidFill>
                  <a:schemeClr val="tx1"/>
                </a:solidFill>
              </a:rPr>
              <a:t>• </a:t>
            </a:r>
            <a:r>
              <a:rPr lang="en-US" sz="1280" dirty="0">
                <a:solidFill>
                  <a:schemeClr val="tx1"/>
                </a:solidFill>
              </a:rPr>
              <a:t>собрать требования к сущностям</a:t>
            </a:r>
            <a:endParaRPr lang="en-US" sz="1280" dirty="0">
              <a:solidFill>
                <a:schemeClr val="tx1"/>
              </a:solidFill>
            </a:endParaRPr>
          </a:p>
        </p:txBody>
      </p:sp>
      <p:sp>
        <p:nvSpPr>
          <p:cNvPr id="13" name="Shape 11"/>
          <p:cNvSpPr/>
          <p:nvPr>
            <p:custDataLst>
              <p:tags r:id="rId10"/>
            </p:custDataLst>
          </p:nvPr>
        </p:nvSpPr>
        <p:spPr>
          <a:xfrm>
            <a:off x="3520440" y="1508760"/>
            <a:ext cx="493776" cy="493776"/>
          </a:xfrm>
          <a:prstGeom prst="ellipse">
            <a:avLst/>
          </a:prstGeom>
          <a:solidFill>
            <a:srgbClr val="7C5C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>
            <p:custDataLst>
              <p:tags r:id="rId11"/>
            </p:custDataLst>
          </p:nvPr>
        </p:nvSpPr>
        <p:spPr>
          <a:xfrm>
            <a:off x="3520440" y="1673352"/>
            <a:ext cx="493776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02</a:t>
            </a:r>
            <a:endParaRPr lang="en-US" sz="1050" dirty="0"/>
          </a:p>
        </p:txBody>
      </p:sp>
      <p:sp>
        <p:nvSpPr>
          <p:cNvPr id="15" name="Shape 13"/>
          <p:cNvSpPr/>
          <p:nvPr>
            <p:custDataLst>
              <p:tags r:id="rId12"/>
            </p:custDataLst>
          </p:nvPr>
        </p:nvSpPr>
        <p:spPr>
          <a:xfrm>
            <a:off x="2944368" y="2148840"/>
            <a:ext cx="1783080" cy="228600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blurRad="19050" dist="1524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6" name="Text 14"/>
          <p:cNvSpPr/>
          <p:nvPr>
            <p:custDataLst>
              <p:tags r:id="rId13"/>
            </p:custDataLst>
          </p:nvPr>
        </p:nvSpPr>
        <p:spPr>
          <a:xfrm>
            <a:off x="3072384" y="2359152"/>
            <a:ext cx="152704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Модель данных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7" name="Text 15"/>
          <p:cNvSpPr/>
          <p:nvPr>
            <p:custDataLst>
              <p:tags r:id="rId14"/>
            </p:custDataLst>
          </p:nvPr>
        </p:nvSpPr>
        <p:spPr>
          <a:xfrm>
            <a:off x="3090672" y="2743200"/>
            <a:ext cx="1499616" cy="12070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chemeClr val="tx1"/>
                </a:solidFill>
              </a:rPr>
              <a:t>• </a:t>
            </a:r>
            <a:r>
              <a:rPr lang="en-US" sz="1280" dirty="0">
                <a:solidFill>
                  <a:schemeClr val="tx1"/>
                </a:solidFill>
              </a:rPr>
              <a:t>спроектировать User / Project / Sprint / Task / Comment
</a:t>
            </a:r>
            <a:r>
              <a:rPr lang="en-US" sz="1280" b="1" dirty="0">
                <a:solidFill>
                  <a:schemeClr val="tx1"/>
                </a:solidFill>
              </a:rPr>
              <a:t>• </a:t>
            </a:r>
            <a:r>
              <a:rPr lang="en-US" sz="1280" dirty="0">
                <a:solidFill>
                  <a:schemeClr val="tx1"/>
                </a:solidFill>
              </a:rPr>
              <a:t>определить связи и enum‑типы</a:t>
            </a:r>
            <a:endParaRPr lang="en-US" sz="1280" dirty="0">
              <a:solidFill>
                <a:schemeClr val="tx1"/>
              </a:solidFill>
            </a:endParaRPr>
          </a:p>
        </p:txBody>
      </p:sp>
      <p:sp>
        <p:nvSpPr>
          <p:cNvPr id="18" name="Shape 16"/>
          <p:cNvSpPr/>
          <p:nvPr>
            <p:custDataLst>
              <p:tags r:id="rId15"/>
            </p:custDataLst>
          </p:nvPr>
        </p:nvSpPr>
        <p:spPr>
          <a:xfrm>
            <a:off x="5733288" y="1508760"/>
            <a:ext cx="493776" cy="493776"/>
          </a:xfrm>
          <a:prstGeom prst="ellipse">
            <a:avLst/>
          </a:prstGeom>
          <a:solidFill>
            <a:srgbClr val="26D0C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>
            <p:custDataLst>
              <p:tags r:id="rId16"/>
            </p:custDataLst>
          </p:nvPr>
        </p:nvSpPr>
        <p:spPr>
          <a:xfrm>
            <a:off x="5733288" y="1673352"/>
            <a:ext cx="493776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03</a:t>
            </a:r>
            <a:endParaRPr lang="en-US" sz="1050" dirty="0"/>
          </a:p>
        </p:txBody>
      </p:sp>
      <p:sp>
        <p:nvSpPr>
          <p:cNvPr id="20" name="Shape 18"/>
          <p:cNvSpPr/>
          <p:nvPr>
            <p:custDataLst>
              <p:tags r:id="rId17"/>
            </p:custDataLst>
          </p:nvPr>
        </p:nvSpPr>
        <p:spPr>
          <a:xfrm>
            <a:off x="5157216" y="2148840"/>
            <a:ext cx="1783080" cy="228600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blurRad="19050" dist="1524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1" name="Text 19"/>
          <p:cNvSpPr/>
          <p:nvPr>
            <p:custDataLst>
              <p:tags r:id="rId18"/>
            </p:custDataLst>
          </p:nvPr>
        </p:nvSpPr>
        <p:spPr>
          <a:xfrm>
            <a:off x="5285232" y="2359152"/>
            <a:ext cx="152704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Инфраструктура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22" name="Text 20"/>
          <p:cNvSpPr/>
          <p:nvPr>
            <p:custDataLst>
              <p:tags r:id="rId19"/>
            </p:custDataLst>
          </p:nvPr>
        </p:nvSpPr>
        <p:spPr>
          <a:xfrm>
            <a:off x="5303520" y="2743200"/>
            <a:ext cx="1499616" cy="12070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chemeClr val="tx1"/>
                </a:solidFill>
              </a:rPr>
              <a:t>• </a:t>
            </a:r>
            <a:r>
              <a:rPr lang="en-US" sz="1280" dirty="0">
                <a:solidFill>
                  <a:schemeClr val="tx1"/>
                </a:solidFill>
              </a:rPr>
              <a:t>настроить Prisma + PostgreSQL
</a:t>
            </a:r>
            <a:r>
              <a:rPr lang="en-US" sz="1280" b="1" dirty="0">
                <a:solidFill>
                  <a:schemeClr val="tx1"/>
                </a:solidFill>
              </a:rPr>
              <a:t>• </a:t>
            </a:r>
            <a:r>
              <a:rPr lang="en-US" sz="1280" dirty="0">
                <a:solidFill>
                  <a:schemeClr val="tx1"/>
                </a:solidFill>
              </a:rPr>
              <a:t>реализовать auth и защищённый main layout</a:t>
            </a:r>
            <a:endParaRPr lang="en-US" sz="1280" dirty="0">
              <a:solidFill>
                <a:schemeClr val="tx1"/>
              </a:solidFill>
            </a:endParaRPr>
          </a:p>
        </p:txBody>
      </p:sp>
      <p:sp>
        <p:nvSpPr>
          <p:cNvPr id="23" name="Shape 21"/>
          <p:cNvSpPr/>
          <p:nvPr>
            <p:custDataLst>
              <p:tags r:id="rId20"/>
            </p:custDataLst>
          </p:nvPr>
        </p:nvSpPr>
        <p:spPr>
          <a:xfrm>
            <a:off x="7946136" y="1508760"/>
            <a:ext cx="493776" cy="493776"/>
          </a:xfrm>
          <a:prstGeom prst="ellipse">
            <a:avLst/>
          </a:prstGeom>
          <a:solidFill>
            <a:srgbClr val="7C5C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>
            <p:custDataLst>
              <p:tags r:id="rId21"/>
            </p:custDataLst>
          </p:nvPr>
        </p:nvSpPr>
        <p:spPr>
          <a:xfrm>
            <a:off x="7946136" y="1673352"/>
            <a:ext cx="493776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04</a:t>
            </a:r>
            <a:endParaRPr lang="en-US" sz="1050" dirty="0"/>
          </a:p>
        </p:txBody>
      </p:sp>
      <p:sp>
        <p:nvSpPr>
          <p:cNvPr id="25" name="Shape 23"/>
          <p:cNvSpPr/>
          <p:nvPr>
            <p:custDataLst>
              <p:tags r:id="rId22"/>
            </p:custDataLst>
          </p:nvPr>
        </p:nvSpPr>
        <p:spPr>
          <a:xfrm>
            <a:off x="7370064" y="2148840"/>
            <a:ext cx="1783080" cy="228600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blurRad="19050" dist="1524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6" name="Text 24"/>
          <p:cNvSpPr/>
          <p:nvPr>
            <p:custDataLst>
              <p:tags r:id="rId23"/>
            </p:custDataLst>
          </p:nvPr>
        </p:nvSpPr>
        <p:spPr>
          <a:xfrm>
            <a:off x="7498080" y="2359152"/>
            <a:ext cx="152704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Интерфейс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27" name="Text 25"/>
          <p:cNvSpPr/>
          <p:nvPr>
            <p:custDataLst>
              <p:tags r:id="rId24"/>
            </p:custDataLst>
          </p:nvPr>
        </p:nvSpPr>
        <p:spPr>
          <a:xfrm>
            <a:off x="7516368" y="2743200"/>
            <a:ext cx="1499616" cy="12070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chemeClr val="tx1"/>
                </a:solidFill>
              </a:rPr>
              <a:t>• </a:t>
            </a:r>
            <a:r>
              <a:rPr lang="en-US" sz="1280" dirty="0">
                <a:solidFill>
                  <a:schemeClr val="tx1"/>
                </a:solidFill>
              </a:rPr>
              <a:t>собрать Dashboard и Projects
</a:t>
            </a:r>
            <a:r>
              <a:rPr lang="en-US" sz="1280" b="1" dirty="0">
                <a:solidFill>
                  <a:schemeClr val="tx1"/>
                </a:solidFill>
              </a:rPr>
              <a:t>• </a:t>
            </a:r>
            <a:r>
              <a:rPr lang="en-US" sz="1280" dirty="0">
                <a:solidFill>
                  <a:schemeClr val="tx1"/>
                </a:solidFill>
              </a:rPr>
              <a:t>добавить страницу проекта и задачи</a:t>
            </a:r>
            <a:endParaRPr lang="en-US" sz="1280" dirty="0">
              <a:solidFill>
                <a:schemeClr val="tx1"/>
              </a:solidFill>
            </a:endParaRPr>
          </a:p>
        </p:txBody>
      </p:sp>
      <p:sp>
        <p:nvSpPr>
          <p:cNvPr id="28" name="Shape 26"/>
          <p:cNvSpPr/>
          <p:nvPr>
            <p:custDataLst>
              <p:tags r:id="rId25"/>
            </p:custDataLst>
          </p:nvPr>
        </p:nvSpPr>
        <p:spPr>
          <a:xfrm>
            <a:off x="10158984" y="1508760"/>
            <a:ext cx="493776" cy="493776"/>
          </a:xfrm>
          <a:prstGeom prst="ellipse">
            <a:avLst/>
          </a:prstGeom>
          <a:solidFill>
            <a:srgbClr val="7C5C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>
            <p:custDataLst>
              <p:tags r:id="rId26"/>
            </p:custDataLst>
          </p:nvPr>
        </p:nvSpPr>
        <p:spPr>
          <a:xfrm>
            <a:off x="10158984" y="1673352"/>
            <a:ext cx="493776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05</a:t>
            </a:r>
            <a:endParaRPr lang="en-US" sz="1050" dirty="0"/>
          </a:p>
        </p:txBody>
      </p:sp>
      <p:sp>
        <p:nvSpPr>
          <p:cNvPr id="30" name="Shape 28"/>
          <p:cNvSpPr/>
          <p:nvPr>
            <p:custDataLst>
              <p:tags r:id="rId27"/>
            </p:custDataLst>
          </p:nvPr>
        </p:nvSpPr>
        <p:spPr>
          <a:xfrm>
            <a:off x="9582912" y="2148840"/>
            <a:ext cx="1783080" cy="228600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blurRad="19050" dist="1524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1" name="Text 29"/>
          <p:cNvSpPr/>
          <p:nvPr>
            <p:custDataLst>
              <p:tags r:id="rId28"/>
            </p:custDataLst>
          </p:nvPr>
        </p:nvSpPr>
        <p:spPr>
          <a:xfrm>
            <a:off x="9710928" y="2359152"/>
            <a:ext cx="152704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Проверка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32" name="Text 30"/>
          <p:cNvSpPr/>
          <p:nvPr>
            <p:custDataLst>
              <p:tags r:id="rId29"/>
            </p:custDataLst>
          </p:nvPr>
        </p:nvSpPr>
        <p:spPr>
          <a:xfrm>
            <a:off x="9729216" y="2743200"/>
            <a:ext cx="1499616" cy="12070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chemeClr val="tx1"/>
                </a:solidFill>
              </a:rPr>
              <a:t>• </a:t>
            </a:r>
            <a:r>
              <a:rPr lang="en-US" sz="1280" dirty="0">
                <a:solidFill>
                  <a:schemeClr val="tx1"/>
                </a:solidFill>
              </a:rPr>
              <a:t>протестировать сценарии CRUD
</a:t>
            </a:r>
            <a:r>
              <a:rPr lang="en-US" sz="1280" b="1" dirty="0">
                <a:solidFill>
                  <a:schemeClr val="tx1"/>
                </a:solidFill>
              </a:rPr>
              <a:t>• </a:t>
            </a:r>
            <a:r>
              <a:rPr lang="en-US" sz="1280" dirty="0">
                <a:solidFill>
                  <a:schemeClr val="tx1"/>
                </a:solidFill>
              </a:rPr>
              <a:t>подготовить почву для board и sprint flow</a:t>
            </a:r>
            <a:endParaRPr lang="en-US" sz="1280" dirty="0">
              <a:solidFill>
                <a:schemeClr val="tx1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1051560" y="5294376"/>
            <a:ext cx="10058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6F8FF"/>
                </a:solidFill>
              </a:rPr>
              <a:t>Результат: система вышла за рамки макета — ключевые экраны уже работают на реальной базе данных.</a:t>
            </a:r>
            <a:endParaRPr lang="en-US" sz="16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B93A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138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Аналоги</a:t>
            </a:r>
            <a:endParaRPr lang="en-US" sz="2400" b="1" dirty="0">
              <a:solidFill>
                <a:schemeClr val="tx1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49808" y="1325880"/>
            <a:ext cx="2788920" cy="4480560"/>
          </a:xfrm>
          <a:prstGeom prst="roundRect">
            <a:avLst>
              <a:gd name="adj" fmla="val 2623"/>
            </a:avLst>
          </a:prstGeom>
          <a:solidFill>
            <a:schemeClr val="bg1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blurRad="19050" dist="1524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536192"/>
            <a:ext cx="2459736" cy="1051560"/>
          </a:xfrm>
          <a:prstGeom prst="roundRect">
            <a:avLst>
              <a:gd name="adj" fmla="val 5217"/>
            </a:avLst>
          </a:prstGeom>
          <a:solidFill>
            <a:srgbClr val="0B1020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6" name="Image 0" descr="/mnt/data/jira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4668" y="1700784"/>
            <a:ext cx="12192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852928"/>
            <a:ext cx="24597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Jira</a:t>
            </a: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950976" y="3246120"/>
            <a:ext cx="2377440" cy="178308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chemeClr val="tx1"/>
                </a:solidFill>
              </a:rPr>
              <a:t>• </a:t>
            </a:r>
            <a:r>
              <a:rPr lang="en-US" sz="1350" dirty="0">
                <a:solidFill>
                  <a:schemeClr val="tx1"/>
                </a:solidFill>
              </a:rPr>
              <a:t>сильный акцент на agile и scrum‑boards
</a:t>
            </a:r>
            <a:r>
              <a:rPr lang="en-US" sz="1350" b="1" dirty="0">
                <a:solidFill>
                  <a:schemeClr val="tx1"/>
                </a:solidFill>
              </a:rPr>
              <a:t>• </a:t>
            </a:r>
            <a:r>
              <a:rPr lang="en-US" sz="1350" dirty="0">
                <a:solidFill>
                  <a:schemeClr val="tx1"/>
                </a:solidFill>
              </a:rPr>
              <a:t>богатая экосистема и отчётность
</a:t>
            </a:r>
            <a:r>
              <a:rPr lang="en-US" sz="1350" b="1" dirty="0">
                <a:solidFill>
                  <a:schemeClr val="tx1"/>
                </a:solidFill>
              </a:rPr>
              <a:t>• </a:t>
            </a:r>
            <a:r>
              <a:rPr lang="en-US" sz="1350" dirty="0">
                <a:solidFill>
                  <a:schemeClr val="tx1"/>
                </a:solidFill>
              </a:rPr>
              <a:t>но высокая сложность для небольших команд</a:t>
            </a:r>
            <a:endParaRPr lang="en-US" sz="1350" dirty="0">
              <a:solidFill>
                <a:schemeClr val="tx1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4087368" y="1325880"/>
            <a:ext cx="2788920" cy="4480560"/>
          </a:xfrm>
          <a:prstGeom prst="roundRect">
            <a:avLst>
              <a:gd name="adj" fmla="val 2623"/>
            </a:avLst>
          </a:prstGeom>
          <a:solidFill>
            <a:schemeClr val="bg1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blurRad="19050" dist="1524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51960" y="1536192"/>
            <a:ext cx="2459736" cy="1051560"/>
          </a:xfrm>
          <a:prstGeom prst="roundRect">
            <a:avLst>
              <a:gd name="adj" fmla="val 5217"/>
            </a:avLst>
          </a:prstGeom>
          <a:solidFill>
            <a:srgbClr val="F5F8FF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11" name="Image 1" descr="/mnt/data/trell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552" y="1716277"/>
            <a:ext cx="2130552" cy="6548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51960" y="2852928"/>
            <a:ext cx="24597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Trello</a:t>
            </a: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13" name="Text 9"/>
          <p:cNvSpPr/>
          <p:nvPr/>
        </p:nvSpPr>
        <p:spPr>
          <a:xfrm>
            <a:off x="4288536" y="3246120"/>
            <a:ext cx="2377440" cy="178308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chemeClr val="tx1"/>
                </a:solidFill>
              </a:rPr>
              <a:t>• </a:t>
            </a:r>
            <a:r>
              <a:rPr lang="en-US" sz="1350" dirty="0">
                <a:solidFill>
                  <a:schemeClr val="tx1"/>
                </a:solidFill>
              </a:rPr>
              <a:t>очень простой визуальный board‑подход
</a:t>
            </a:r>
            <a:r>
              <a:rPr lang="en-US" sz="1350" b="1" dirty="0">
                <a:solidFill>
                  <a:schemeClr val="tx1"/>
                </a:solidFill>
              </a:rPr>
              <a:t>• </a:t>
            </a:r>
            <a:r>
              <a:rPr lang="en-US" sz="1350" dirty="0">
                <a:solidFill>
                  <a:schemeClr val="tx1"/>
                </a:solidFill>
              </a:rPr>
              <a:t>быстрый старт для задач и карточек
</a:t>
            </a:r>
            <a:r>
              <a:rPr lang="en-US" sz="1350" b="1" dirty="0">
                <a:solidFill>
                  <a:schemeClr val="tx1"/>
                </a:solidFill>
              </a:rPr>
              <a:t>• </a:t>
            </a:r>
            <a:r>
              <a:rPr lang="en-US" sz="1350" dirty="0">
                <a:solidFill>
                  <a:schemeClr val="tx1"/>
                </a:solidFill>
              </a:rPr>
              <a:t>но слабее про глубокий sprint workflow</a:t>
            </a:r>
            <a:endParaRPr lang="en-US" sz="1350" dirty="0">
              <a:solidFill>
                <a:schemeClr val="tx1"/>
              </a:solidFill>
            </a:endParaRPr>
          </a:p>
        </p:txBody>
      </p:sp>
      <p:sp>
        <p:nvSpPr>
          <p:cNvPr id="14" name="Shape 10"/>
          <p:cNvSpPr/>
          <p:nvPr/>
        </p:nvSpPr>
        <p:spPr>
          <a:xfrm>
            <a:off x="7424928" y="1325880"/>
            <a:ext cx="2788920" cy="4480560"/>
          </a:xfrm>
          <a:prstGeom prst="roundRect">
            <a:avLst>
              <a:gd name="adj" fmla="val 2623"/>
            </a:avLst>
          </a:prstGeom>
          <a:solidFill>
            <a:schemeClr val="bg1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blurRad="19050" dist="1524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589520" y="1536192"/>
            <a:ext cx="2459736" cy="1051560"/>
          </a:xfrm>
          <a:prstGeom prst="roundRect">
            <a:avLst>
              <a:gd name="adj" fmla="val 5217"/>
            </a:avLst>
          </a:prstGeom>
          <a:solidFill>
            <a:srgbClr val="0B1020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16" name="Image 2" descr="/mnt/data/asan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0144" y="1700784"/>
            <a:ext cx="958487" cy="6858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589520" y="2852928"/>
            <a:ext cx="24597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Asana</a:t>
            </a: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18" name="Text 13"/>
          <p:cNvSpPr/>
          <p:nvPr/>
        </p:nvSpPr>
        <p:spPr>
          <a:xfrm>
            <a:off x="7626096" y="3246120"/>
            <a:ext cx="2377440" cy="178308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chemeClr val="tx1"/>
                </a:solidFill>
              </a:rPr>
              <a:t>• </a:t>
            </a:r>
            <a:r>
              <a:rPr lang="en-US" sz="1350" dirty="0">
                <a:solidFill>
                  <a:schemeClr val="tx1"/>
                </a:solidFill>
              </a:rPr>
              <a:t>широкая work‑management платформа
</a:t>
            </a:r>
            <a:r>
              <a:rPr lang="en-US" sz="1350" b="1" dirty="0">
                <a:solidFill>
                  <a:schemeClr val="tx1"/>
                </a:solidFill>
              </a:rPr>
              <a:t>• </a:t>
            </a:r>
            <a:r>
              <a:rPr lang="en-US" sz="1350" dirty="0">
                <a:solidFill>
                  <a:schemeClr val="tx1"/>
                </a:solidFill>
              </a:rPr>
              <a:t>подходит для разных типов команд
</a:t>
            </a:r>
            <a:r>
              <a:rPr lang="en-US" sz="1350" b="1" dirty="0">
                <a:solidFill>
                  <a:schemeClr val="tx1"/>
                </a:solidFill>
              </a:rPr>
              <a:t>• </a:t>
            </a:r>
            <a:r>
              <a:rPr lang="en-US" sz="1350" dirty="0">
                <a:solidFill>
                  <a:schemeClr val="tx1"/>
                </a:solidFill>
              </a:rPr>
              <a:t>но не сфокусирована только на Scrum</a:t>
            </a:r>
            <a:endParaRPr lang="en-US" sz="1350" dirty="0">
              <a:solidFill>
                <a:schemeClr val="tx1"/>
              </a:solidFill>
            </a:endParaRPr>
          </a:p>
        </p:txBody>
      </p:sp>
      <p:sp>
        <p:nvSpPr>
          <p:cNvPr id="20" name="Text 15"/>
          <p:cNvSpPr/>
          <p:nvPr/>
        </p:nvSpPr>
        <p:spPr>
          <a:xfrm>
            <a:off x="1005840" y="6126480"/>
            <a:ext cx="10149840" cy="1280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40" dirty="0">
                <a:solidFill>
                  <a:srgbClr val="F6F8FF"/>
                </a:solidFill>
              </a:rPr>
              <a:t>Вывод: SCRUMO не пытается заменить все enterprise‑платформы; его ниша — понятное учебно‑практическое Scrum‑решение с собственной архитектурой.</a:t>
            </a:r>
            <a:endParaRPr lang="en-US" sz="13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B93A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138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Кратко об архитектуре</a:t>
            </a:r>
            <a:endParaRPr lang="en-US" sz="2400" b="1" dirty="0">
              <a:solidFill>
                <a:schemeClr val="tx1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084832" y="2788920"/>
            <a:ext cx="777240" cy="0"/>
          </a:xfrm>
          <a:prstGeom prst="line">
            <a:avLst/>
          </a:prstGeom>
          <a:noFill/>
          <a:ln w="25400">
            <a:solidFill>
              <a:srgbClr val="7C8CC4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187952" y="2788920"/>
            <a:ext cx="777240" cy="0"/>
          </a:xfrm>
          <a:prstGeom prst="line">
            <a:avLst/>
          </a:prstGeom>
          <a:noFill/>
          <a:ln w="25400">
            <a:solidFill>
              <a:srgbClr val="7C8CC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336792" y="2788920"/>
            <a:ext cx="777240" cy="0"/>
          </a:xfrm>
          <a:prstGeom prst="line">
            <a:avLst/>
          </a:prstGeom>
          <a:noFill/>
          <a:ln w="25400">
            <a:solidFill>
              <a:srgbClr val="7C8CC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485632" y="2788920"/>
            <a:ext cx="777240" cy="0"/>
          </a:xfrm>
          <a:prstGeom prst="line">
            <a:avLst/>
          </a:prstGeom>
          <a:noFill/>
          <a:ln w="25400">
            <a:solidFill>
              <a:srgbClr val="7C8CC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22960" y="2194560"/>
            <a:ext cx="1783080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blurRad="19050" dist="1524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2359152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5CA8"/>
                </a:solidFill>
              </a:rPr>
              <a:t>UI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633472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Next.js</a:t>
            </a:r>
            <a:endParaRPr lang="en-US" sz="1600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App Router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2926080" y="2194560"/>
            <a:ext cx="1783080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blurRad="19050" dist="1524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063240" y="2359152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5CA8"/>
                </a:solidFill>
              </a:rPr>
              <a:t>Логика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63240" y="2633472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Server Actions</a:t>
            </a:r>
            <a:endParaRPr lang="en-US" sz="1600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+ protected routes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074920" y="2194560"/>
            <a:ext cx="1783080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blurRad="19050" dist="1524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12080" y="2359152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5CA8"/>
                </a:solidFill>
              </a:rPr>
              <a:t>Auth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12080" y="2633472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Credentials</a:t>
            </a:r>
            <a:endParaRPr lang="en-US" sz="1600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+ bcryptjs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223760" y="2194560"/>
            <a:ext cx="1783080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blurRad="19050" dist="1524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60920" y="2359152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5CA8"/>
                </a:solidFill>
              </a:rPr>
              <a:t>ORM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60920" y="2633472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Prisma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372600" y="2194560"/>
            <a:ext cx="1783080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blurRad="19050" dist="1524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509760" y="2359152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D0CE"/>
                </a:solidFill>
              </a:rPr>
              <a:t>DB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509760" y="2633472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PostgreSQL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914400" y="4069080"/>
            <a:ext cx="3291840" cy="134493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blurRad="19050" dist="1524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97280" y="4485132"/>
            <a:ext cx="2743200" cy="47548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• </a:t>
            </a:r>
            <a:r>
              <a:rPr lang="en-US" sz="1400" dirty="0">
                <a:solidFill>
                  <a:schemeClr val="tx1"/>
                </a:solidFill>
              </a:rPr>
              <a:t>один стек для UI и серверной логики
</a:t>
            </a:r>
            <a:r>
              <a:rPr lang="en-US" sz="1400" b="1" dirty="0">
                <a:solidFill>
                  <a:schemeClr val="tx1"/>
                </a:solidFill>
              </a:rPr>
              <a:t>• </a:t>
            </a:r>
            <a:r>
              <a:rPr lang="en-US" sz="1400" dirty="0">
                <a:solidFill>
                  <a:schemeClr val="tx1"/>
                </a:solidFill>
              </a:rPr>
              <a:t>прямая работа с БД без mock‑слоя
</a:t>
            </a:r>
            <a:r>
              <a:rPr lang="en-US" sz="1400" b="1" dirty="0">
                <a:solidFill>
                  <a:schemeClr val="tx1"/>
                </a:solidFill>
              </a:rPr>
              <a:t>• </a:t>
            </a:r>
            <a:r>
              <a:rPr lang="en-US" sz="1400" dirty="0">
                <a:solidFill>
                  <a:schemeClr val="tx1"/>
                </a:solidFill>
              </a:rPr>
              <a:t>простая масштабируемость по модулям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480560" y="4069080"/>
            <a:ext cx="3291840" cy="1354455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blurRad="19050" dist="1524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663440" y="4462272"/>
            <a:ext cx="2743200" cy="47548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• </a:t>
            </a:r>
            <a:r>
              <a:rPr lang="en-US" sz="1400" dirty="0">
                <a:solidFill>
                  <a:schemeClr val="tx1"/>
                </a:solidFill>
              </a:rPr>
              <a:t>auth на реальной БД
</a:t>
            </a:r>
            <a:r>
              <a:rPr lang="en-US" sz="1400" b="1" dirty="0">
                <a:solidFill>
                  <a:schemeClr val="tx1"/>
                </a:solidFill>
              </a:rPr>
              <a:t>• </a:t>
            </a:r>
            <a:r>
              <a:rPr lang="en-US" sz="1400" dirty="0">
                <a:solidFill>
                  <a:schemeClr val="tx1"/>
                </a:solidFill>
              </a:rPr>
              <a:t>Dashboard и Projects на Prisma
</a:t>
            </a:r>
            <a:r>
              <a:rPr lang="en-US" sz="1400" b="1" dirty="0">
                <a:solidFill>
                  <a:schemeClr val="tx1"/>
                </a:solidFill>
              </a:rPr>
              <a:t>• </a:t>
            </a:r>
            <a:r>
              <a:rPr lang="en-US" sz="1400" dirty="0">
                <a:solidFill>
                  <a:schemeClr val="tx1"/>
                </a:solidFill>
              </a:rPr>
              <a:t>Project Details и Tasks pages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046720" y="4069080"/>
            <a:ext cx="3246120" cy="1354455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blurRad="19050" dist="1524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229600" y="4429887"/>
            <a:ext cx="2697480" cy="47548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• </a:t>
            </a:r>
            <a:r>
              <a:rPr lang="en-US" sz="1400" dirty="0">
                <a:solidFill>
                  <a:schemeClr val="tx1"/>
                </a:solidFill>
              </a:rPr>
              <a:t>zod для валидации форм
</a:t>
            </a:r>
            <a:r>
              <a:rPr lang="en-US" sz="1400" b="1" dirty="0">
                <a:solidFill>
                  <a:schemeClr val="tx1"/>
                </a:solidFill>
              </a:rPr>
              <a:t>• </a:t>
            </a:r>
            <a:r>
              <a:rPr lang="en-US" sz="1400" dirty="0">
                <a:solidFill>
                  <a:schemeClr val="tx1"/>
                </a:solidFill>
              </a:rPr>
              <a:t>App Router для маршрутов
</a:t>
            </a:r>
            <a:r>
              <a:rPr lang="en-US" sz="1400" b="1" dirty="0">
                <a:solidFill>
                  <a:schemeClr val="tx1"/>
                </a:solidFill>
              </a:rPr>
              <a:t>• </a:t>
            </a:r>
            <a:r>
              <a:rPr lang="en-US" sz="1400" dirty="0">
                <a:solidFill>
                  <a:schemeClr val="tx1"/>
                </a:solidFill>
              </a:rPr>
              <a:t>реальная модель Project / Sprint / Task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B93A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138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Ключевые сущности системы</a:t>
            </a:r>
            <a:endParaRPr lang="en-US" sz="2400" b="1" dirty="0">
              <a:solidFill>
                <a:schemeClr val="tx1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487168" y="2240280"/>
            <a:ext cx="1051560" cy="0"/>
          </a:xfrm>
          <a:prstGeom prst="line">
            <a:avLst/>
          </a:prstGeom>
          <a:noFill/>
          <a:ln w="22860">
            <a:solidFill>
              <a:srgbClr val="7B8CC7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572000" y="2578608"/>
            <a:ext cx="0" cy="1078992"/>
          </a:xfrm>
          <a:prstGeom prst="line">
            <a:avLst/>
          </a:prstGeom>
          <a:noFill/>
          <a:ln w="22860">
            <a:solidFill>
              <a:srgbClr val="7B8CC7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486400" y="4297680"/>
            <a:ext cx="960120" cy="0"/>
          </a:xfrm>
          <a:prstGeom prst="line">
            <a:avLst/>
          </a:prstGeom>
          <a:noFill/>
          <a:ln w="22860">
            <a:solidFill>
              <a:srgbClr val="7B8CC7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616952" y="2578608"/>
            <a:ext cx="0" cy="1078992"/>
          </a:xfrm>
          <a:prstGeom prst="line">
            <a:avLst/>
          </a:prstGeom>
          <a:noFill/>
          <a:ln w="22860">
            <a:solidFill>
              <a:srgbClr val="7B8CC7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77240" y="1554480"/>
            <a:ext cx="173736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blurRad="19050" dist="1524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86968" y="1664208"/>
            <a:ext cx="151790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Project</a:t>
            </a:r>
            <a:endParaRPr lang="en-US" sz="1500" b="1" dirty="0">
              <a:solidFill>
                <a:schemeClr val="tx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941832" y="1938528"/>
            <a:ext cx="1408176" cy="38404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id, name, key</a:t>
            </a:r>
            <a:endParaRPr lang="en-US" sz="1300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description, status</a:t>
            </a:r>
            <a:endParaRPr lang="en-US" sz="1300" dirty="0">
              <a:solidFill>
                <a:schemeClr val="tx1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3611880" y="1554480"/>
            <a:ext cx="187452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blurRad="19050" dist="15240" dir="2700000" algn="bl" rotWithShape="0">
              <a:srgbClr val="000000">
                <a:alpha val="22000"/>
              </a:srgbClr>
            </a:outerShdw>
          </a:effectLst>
        </p:spPr>
        <p:txBody>
          <a:bodyPr/>
          <a:p>
            <a:endParaRPr lang="ru-RU" altLang="en-US"/>
          </a:p>
        </p:txBody>
      </p:sp>
      <p:sp>
        <p:nvSpPr>
          <p:cNvPr id="12" name="Text 10"/>
          <p:cNvSpPr/>
          <p:nvPr/>
        </p:nvSpPr>
        <p:spPr>
          <a:xfrm>
            <a:off x="3721608" y="1664208"/>
            <a:ext cx="165506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Sprint</a:t>
            </a:r>
            <a:endParaRPr lang="en-US" sz="1500" b="1" dirty="0">
              <a:solidFill>
                <a:schemeClr val="tx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3776472" y="1938528"/>
            <a:ext cx="1545336" cy="38404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goal, status</a:t>
            </a:r>
            <a:endParaRPr lang="en-US" sz="1300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start / end, capacity</a:t>
            </a:r>
            <a:endParaRPr lang="en-US" sz="1300" dirty="0">
              <a:solidFill>
                <a:schemeClr val="tx1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629400" y="1554480"/>
            <a:ext cx="196596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blurRad="19050" dist="1524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39128" y="1664208"/>
            <a:ext cx="174650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User</a:t>
            </a:r>
            <a:endParaRPr lang="en-US" sz="1500" b="1" dirty="0">
              <a:solidFill>
                <a:schemeClr val="tx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6793992" y="1938528"/>
            <a:ext cx="163677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name, email, role</a:t>
            </a:r>
            <a:endParaRPr lang="en-US" sz="1300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avatarUrl</a:t>
            </a:r>
            <a:endParaRPr lang="en-US" sz="1300" dirty="0">
              <a:solidFill>
                <a:schemeClr val="tx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611880" y="3794760"/>
            <a:ext cx="187452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blurRad="19050" dist="1524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721608" y="3904488"/>
            <a:ext cx="165506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Task</a:t>
            </a:r>
            <a:endParaRPr lang="en-US" sz="1500" b="1" dirty="0">
              <a:solidFill>
                <a:schemeClr val="tx1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3776472" y="4178808"/>
            <a:ext cx="15453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title, status, priority</a:t>
            </a:r>
            <a:endParaRPr lang="en-US" sz="1300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storyPoints, deadline</a:t>
            </a:r>
            <a:endParaRPr lang="en-US" sz="1300" dirty="0">
              <a:solidFill>
                <a:schemeClr val="tx1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629400" y="3794760"/>
            <a:ext cx="196596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blurRad="19050" dist="1524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39128" y="3904488"/>
            <a:ext cx="174650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Comment</a:t>
            </a:r>
            <a:endParaRPr lang="en-US" sz="1500" b="1" dirty="0">
              <a:solidFill>
                <a:schemeClr val="tx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6793992" y="4178808"/>
            <a:ext cx="163677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content</a:t>
            </a:r>
            <a:endParaRPr lang="en-US" sz="1300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taskId, authorId</a:t>
            </a:r>
            <a:endParaRPr lang="en-US" sz="1300" dirty="0">
              <a:solidFill>
                <a:schemeClr val="tx1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9189720" y="1691640"/>
            <a:ext cx="2011680" cy="356616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blurRad="19050" dist="1524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390888" y="1874520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Связи</a:t>
            </a:r>
            <a:endParaRPr lang="en-US" sz="1500" b="1" dirty="0">
              <a:solidFill>
                <a:schemeClr val="tx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9372600" y="2194560"/>
            <a:ext cx="1600200" cy="2377440"/>
          </a:xfrm>
          <a:prstGeom prst="rect">
            <a:avLst/>
          </a:prstGeom>
          <a:solidFill>
            <a:schemeClr val="bg1"/>
          </a:solidFill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chemeClr val="tx1"/>
                </a:solidFill>
              </a:rPr>
              <a:t>• </a:t>
            </a:r>
            <a:r>
              <a:rPr lang="en-US" sz="1320" dirty="0">
                <a:solidFill>
                  <a:schemeClr val="tx1"/>
                </a:solidFill>
              </a:rPr>
              <a:t>Project содержит Sprints и Tasks
</a:t>
            </a:r>
            <a:r>
              <a:rPr lang="en-US" sz="1320" b="1" dirty="0">
                <a:solidFill>
                  <a:schemeClr val="tx1"/>
                </a:solidFill>
              </a:rPr>
              <a:t>• </a:t>
            </a:r>
            <a:r>
              <a:rPr lang="en-US" sz="1320" dirty="0">
                <a:solidFill>
                  <a:schemeClr val="tx1"/>
                </a:solidFill>
              </a:rPr>
              <a:t>Sprint объединяет задачи конкретной итерации
</a:t>
            </a:r>
            <a:r>
              <a:rPr lang="en-US" sz="1320" b="1" dirty="0">
                <a:solidFill>
                  <a:schemeClr val="tx1"/>
                </a:solidFill>
              </a:rPr>
              <a:t>• </a:t>
            </a:r>
            <a:r>
              <a:rPr lang="en-US" sz="1320" dirty="0">
                <a:solidFill>
                  <a:schemeClr val="tx1"/>
                </a:solidFill>
              </a:rPr>
              <a:t>Task привязана к проекту, спринту и исполнителю
</a:t>
            </a:r>
            <a:r>
              <a:rPr lang="en-US" sz="1320" b="1" dirty="0">
                <a:solidFill>
                  <a:schemeClr val="tx1"/>
                </a:solidFill>
              </a:rPr>
              <a:t>• </a:t>
            </a:r>
            <a:r>
              <a:rPr lang="en-US" sz="1320" dirty="0">
                <a:solidFill>
                  <a:schemeClr val="tx1"/>
                </a:solidFill>
              </a:rPr>
              <a:t>Comment хранит обсуждение задачи</a:t>
            </a:r>
            <a:endParaRPr lang="en-US" sz="1320" dirty="0">
              <a:solidFill>
                <a:schemeClr val="tx1"/>
              </a:solidFill>
            </a:endParaRPr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B93A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>
                <a:solidFill>
                  <a:schemeClr val="tx1"/>
                </a:solidFill>
              </a:rPr>
            </a:fld>
            <a:endParaRPr lang="en-US" b="0">
              <a:solidFill>
                <a:schemeClr val="tx1"/>
              </a:solidFill>
            </a:endParaRPr>
          </a:p>
        </p:txBody>
      </p:sp>
      <p:sp>
        <p:nvSpPr>
          <p:cNvPr id="27" name="Текстовое поле 26"/>
          <p:cNvSpPr txBox="1"/>
          <p:nvPr/>
        </p:nvSpPr>
        <p:spPr>
          <a:xfrm>
            <a:off x="3642995" y="3343910"/>
            <a:ext cx="4064000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endParaRPr lang="ru-RU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138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уже реализовано</a:t>
            </a:r>
            <a:endParaRPr lang="en-US" sz="2400" b="1" dirty="0">
              <a:solidFill>
                <a:schemeClr val="tx1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5760720" cy="5029200"/>
          </a:xfrm>
          <a:prstGeom prst="roundRect">
            <a:avLst>
              <a:gd name="adj" fmla="val 1455"/>
            </a:avLst>
          </a:prstGeom>
          <a:solidFill>
            <a:schemeClr val="bg1"/>
          </a:solidFill>
          <a:ln w="12700">
            <a:solidFill>
              <a:schemeClr val="bg1">
                <a:alpha val="65000"/>
              </a:schemeClr>
            </a:solidFill>
            <a:prstDash val="solid"/>
          </a:ln>
          <a:effectLst>
            <a:outerShdw blurRad="19050" dist="1524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572768"/>
            <a:ext cx="20116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Текущий функционал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960120" y="1965960"/>
            <a:ext cx="5074920" cy="35661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• </a:t>
            </a:r>
            <a:r>
              <a:rPr lang="en-US" sz="1700" dirty="0">
                <a:solidFill>
                  <a:schemeClr val="tx1"/>
                </a:solidFill>
              </a:rPr>
              <a:t>Auth через Credentials работает на реальной БД
</a:t>
            </a:r>
            <a:r>
              <a:rPr lang="en-US" sz="1700" b="1" dirty="0">
                <a:solidFill>
                  <a:schemeClr val="tx1"/>
                </a:solidFill>
              </a:rPr>
              <a:t>• </a:t>
            </a:r>
            <a:r>
              <a:rPr lang="en-US" sz="1700" dirty="0">
                <a:solidFill>
                  <a:schemeClr val="tx1"/>
                </a:solidFill>
              </a:rPr>
              <a:t>Main layout защищён: без сессии доступ закрыт
</a:t>
            </a:r>
            <a:r>
              <a:rPr lang="en-US" sz="1700" b="1" dirty="0">
                <a:solidFill>
                  <a:schemeClr val="tx1"/>
                </a:solidFill>
              </a:rPr>
              <a:t>• </a:t>
            </a:r>
            <a:r>
              <a:rPr lang="en-US" sz="1700" dirty="0">
                <a:solidFill>
                  <a:schemeClr val="tx1"/>
                </a:solidFill>
              </a:rPr>
              <a:t>Projects page читает и создаёт проекты через Prisma
</a:t>
            </a:r>
            <a:r>
              <a:rPr lang="en-US" sz="1700" b="1" dirty="0">
                <a:solidFill>
                  <a:schemeClr val="tx1"/>
                </a:solidFill>
              </a:rPr>
              <a:t>• </a:t>
            </a:r>
            <a:r>
              <a:rPr lang="en-US" sz="1700" dirty="0">
                <a:solidFill>
                  <a:schemeClr val="tx1"/>
                </a:solidFill>
              </a:rPr>
              <a:t>Dashboard показывает реальные агрегаты по задачам и спринтам
</a:t>
            </a:r>
            <a:r>
              <a:rPr lang="en-US" sz="1700" b="1" dirty="0">
                <a:solidFill>
                  <a:schemeClr val="tx1"/>
                </a:solidFill>
              </a:rPr>
              <a:t>• </a:t>
            </a:r>
            <a:r>
              <a:rPr lang="en-US" sz="1700" dirty="0">
                <a:solidFill>
                  <a:schemeClr val="tx1"/>
                </a:solidFill>
              </a:rPr>
              <a:t>Project Details отображает проект, спринты и последние задачи
</a:t>
            </a:r>
            <a:r>
              <a:rPr lang="en-US" sz="1700" b="1" dirty="0">
                <a:solidFill>
                  <a:schemeClr val="tx1"/>
                </a:solidFill>
              </a:rPr>
              <a:t>• </a:t>
            </a:r>
            <a:r>
              <a:rPr lang="en-US" sz="1700" dirty="0">
                <a:solidFill>
                  <a:schemeClr val="tx1"/>
                </a:solidFill>
              </a:rPr>
              <a:t>Create Task и Project Tasks page уже встроены в workflow</a:t>
            </a:r>
            <a:endParaRPr lang="en-US" sz="1700" dirty="0">
              <a:solidFill>
                <a:schemeClr val="tx1"/>
              </a:solidFill>
            </a:endParaRPr>
          </a:p>
        </p:txBody>
      </p:sp>
      <p:sp>
        <p:nvSpPr>
          <p:cNvPr id="7" name="Shape 5"/>
          <p:cNvSpPr/>
          <p:nvPr>
            <p:custDataLst>
              <p:tags r:id="rId1"/>
            </p:custDataLst>
          </p:nvPr>
        </p:nvSpPr>
        <p:spPr>
          <a:xfrm>
            <a:off x="6903720" y="1463040"/>
            <a:ext cx="452628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bg1">
                <a:alpha val="65000"/>
              </a:schemeClr>
            </a:solidFill>
            <a:prstDash val="solid"/>
          </a:ln>
          <a:effectLst>
            <a:outerShdw blurRad="19050" dist="15240" dir="2700000" algn="bl" rotWithShape="0">
              <a:srgbClr val="000000">
                <a:alpha val="22000"/>
              </a:srgbClr>
            </a:outerShdw>
          </a:effectLst>
        </p:spPr>
        <p:txBody>
          <a:bodyPr/>
          <a:p>
            <a:endParaRPr lang="ru-RU" altLang="en-US"/>
          </a:p>
        </p:txBody>
      </p:sp>
      <p:sp>
        <p:nvSpPr>
          <p:cNvPr id="8" name="Text 6"/>
          <p:cNvSpPr/>
          <p:nvPr>
            <p:custDataLst>
              <p:tags r:id="rId2"/>
            </p:custDataLst>
          </p:nvPr>
        </p:nvSpPr>
        <p:spPr>
          <a:xfrm>
            <a:off x="7132320" y="162763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6D0CE"/>
                </a:solidFill>
              </a:rPr>
              <a:t>01</a:t>
            </a:r>
            <a:endParaRPr lang="en-US" sz="2100" dirty="0"/>
          </a:p>
        </p:txBody>
      </p:sp>
      <p:sp>
        <p:nvSpPr>
          <p:cNvPr id="9" name="Text 7"/>
          <p:cNvSpPr/>
          <p:nvPr>
            <p:custDataLst>
              <p:tags r:id="rId3"/>
            </p:custDataLst>
          </p:nvPr>
        </p:nvSpPr>
        <p:spPr>
          <a:xfrm>
            <a:off x="7772400" y="1664208"/>
            <a:ext cx="32918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реальные данные</a:t>
            </a:r>
            <a:endParaRPr lang="en-US" sz="1700" b="1" dirty="0">
              <a:solidFill>
                <a:schemeClr val="tx1"/>
              </a:solidFill>
            </a:endParaRPr>
          </a:p>
        </p:txBody>
      </p:sp>
      <p:sp>
        <p:nvSpPr>
          <p:cNvPr id="10" name="Shape 8"/>
          <p:cNvSpPr/>
          <p:nvPr>
            <p:custDataLst>
              <p:tags r:id="rId4"/>
            </p:custDataLst>
          </p:nvPr>
        </p:nvSpPr>
        <p:spPr>
          <a:xfrm>
            <a:off x="6903720" y="2651760"/>
            <a:ext cx="452628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bg1">
                <a:alpha val="65000"/>
              </a:schemeClr>
            </a:solidFill>
            <a:prstDash val="solid"/>
          </a:ln>
          <a:effectLst>
            <a:outerShdw blurRad="19050" dist="15240" dir="2700000" algn="bl" rotWithShape="0">
              <a:srgbClr val="000000">
                <a:alpha val="22000"/>
              </a:srgbClr>
            </a:outerShdw>
          </a:effectLst>
        </p:spPr>
        <p:txBody>
          <a:bodyPr/>
          <a:p>
            <a:endParaRPr lang="ru-RU" altLang="en-US"/>
          </a:p>
        </p:txBody>
      </p:sp>
      <p:sp>
        <p:nvSpPr>
          <p:cNvPr id="11" name="Text 9"/>
          <p:cNvSpPr/>
          <p:nvPr>
            <p:custDataLst>
              <p:tags r:id="rId5"/>
            </p:custDataLst>
          </p:nvPr>
        </p:nvSpPr>
        <p:spPr>
          <a:xfrm>
            <a:off x="7132320" y="281635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5CA8"/>
                </a:solidFill>
              </a:rPr>
              <a:t>02</a:t>
            </a:r>
            <a:endParaRPr lang="en-US" sz="2100" dirty="0"/>
          </a:p>
        </p:txBody>
      </p:sp>
      <p:sp>
        <p:nvSpPr>
          <p:cNvPr id="12" name="Text 10"/>
          <p:cNvSpPr/>
          <p:nvPr>
            <p:custDataLst>
              <p:tags r:id="rId6"/>
            </p:custDataLst>
          </p:nvPr>
        </p:nvSpPr>
        <p:spPr>
          <a:xfrm>
            <a:off x="7772400" y="2852928"/>
            <a:ext cx="32918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единый стек</a:t>
            </a:r>
            <a:endParaRPr lang="en-US" sz="1700" b="1" dirty="0">
              <a:solidFill>
                <a:schemeClr val="tx1"/>
              </a:solidFill>
            </a:endParaRPr>
          </a:p>
        </p:txBody>
      </p:sp>
      <p:sp>
        <p:nvSpPr>
          <p:cNvPr id="13" name="Shape 11"/>
          <p:cNvSpPr/>
          <p:nvPr>
            <p:custDataLst>
              <p:tags r:id="rId7"/>
            </p:custDataLst>
          </p:nvPr>
        </p:nvSpPr>
        <p:spPr>
          <a:xfrm>
            <a:off x="6903720" y="3840480"/>
            <a:ext cx="452628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bg1">
                <a:alpha val="65000"/>
              </a:schemeClr>
            </a:solidFill>
            <a:prstDash val="solid"/>
          </a:ln>
          <a:effectLst>
            <a:outerShdw blurRad="19050" dist="1524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4" name="Text 12"/>
          <p:cNvSpPr/>
          <p:nvPr>
            <p:custDataLst>
              <p:tags r:id="rId8"/>
            </p:custDataLst>
          </p:nvPr>
        </p:nvSpPr>
        <p:spPr>
          <a:xfrm>
            <a:off x="7132320" y="400507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5CA8"/>
                </a:solidFill>
              </a:rPr>
              <a:t>03</a:t>
            </a:r>
            <a:endParaRPr lang="en-US" sz="2100" dirty="0"/>
          </a:p>
        </p:txBody>
      </p:sp>
      <p:sp>
        <p:nvSpPr>
          <p:cNvPr id="15" name="Text 13"/>
          <p:cNvSpPr/>
          <p:nvPr>
            <p:custDataLst>
              <p:tags r:id="rId9"/>
            </p:custDataLst>
          </p:nvPr>
        </p:nvSpPr>
        <p:spPr>
          <a:xfrm>
            <a:off x="7772400" y="4041648"/>
            <a:ext cx="32918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маршруты и CRUD</a:t>
            </a:r>
            <a:endParaRPr lang="en-US" sz="1700" b="1" dirty="0">
              <a:solidFill>
                <a:schemeClr val="tx1"/>
              </a:solidFill>
            </a:endParaRPr>
          </a:p>
        </p:txBody>
      </p:sp>
      <p:sp>
        <p:nvSpPr>
          <p:cNvPr id="16" name="Shape 14"/>
          <p:cNvSpPr/>
          <p:nvPr>
            <p:custDataLst>
              <p:tags r:id="rId10"/>
            </p:custDataLst>
          </p:nvPr>
        </p:nvSpPr>
        <p:spPr>
          <a:xfrm>
            <a:off x="6903720" y="5029200"/>
            <a:ext cx="452628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bg1">
                <a:alpha val="65000"/>
              </a:schemeClr>
            </a:solidFill>
            <a:prstDash val="solid"/>
          </a:ln>
          <a:effectLst>
            <a:outerShdw blurRad="19050" dist="1524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7" name="Text 15"/>
          <p:cNvSpPr/>
          <p:nvPr>
            <p:custDataLst>
              <p:tags r:id="rId11"/>
            </p:custDataLst>
          </p:nvPr>
        </p:nvSpPr>
        <p:spPr>
          <a:xfrm>
            <a:off x="7132320" y="519379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5CA8"/>
                </a:solidFill>
              </a:rPr>
              <a:t>04</a:t>
            </a:r>
            <a:endParaRPr lang="en-US" sz="2100" dirty="0"/>
          </a:p>
        </p:txBody>
      </p:sp>
      <p:sp>
        <p:nvSpPr>
          <p:cNvPr id="18" name="Text 16"/>
          <p:cNvSpPr/>
          <p:nvPr>
            <p:custDataLst>
              <p:tags r:id="rId12"/>
            </p:custDataLst>
          </p:nvPr>
        </p:nvSpPr>
        <p:spPr>
          <a:xfrm>
            <a:off x="7772400" y="5230368"/>
            <a:ext cx="32918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основа для board</a:t>
            </a:r>
            <a:endParaRPr lang="en-US" sz="1700" b="1" dirty="0">
              <a:solidFill>
                <a:schemeClr val="tx1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903720" y="6016752"/>
            <a:ext cx="452628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bg1">
                <a:alpha val="65000"/>
              </a:schemeClr>
            </a:solidFill>
            <a:prstDash val="solid"/>
          </a:ln>
          <a:effectLst>
            <a:outerShdw blurRad="19050" dist="1524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5" name="Slide Number Placeholder 0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B93A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ИТОГИ</a:t>
            </a:r>
            <a:r>
              <a:rPr lang="en-US" altLang="ru-RU"/>
              <a:t> </a:t>
            </a:r>
            <a:r>
              <a:rPr lang="en-US" altLang="en-US"/>
              <a:t>РАБОТЫ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проанализированы</a:t>
            </a:r>
            <a:r>
              <a:rPr lang="en-US" altLang="ru-RU"/>
              <a:t> </a:t>
            </a:r>
            <a:r>
              <a:rPr lang="en-US" altLang="en-US"/>
              <a:t>существующие</a:t>
            </a:r>
            <a:r>
              <a:rPr lang="en-US" altLang="ru-RU"/>
              <a:t> </a:t>
            </a:r>
            <a:r>
              <a:rPr lang="en-US" altLang="en-US"/>
              <a:t>системы</a:t>
            </a:r>
            <a:r>
              <a:rPr lang="en-US" altLang="ru-RU"/>
              <a:t> </a:t>
            </a:r>
            <a:r>
              <a:rPr lang="en-US" altLang="en-US"/>
              <a:t>управления</a:t>
            </a:r>
            <a:r>
              <a:rPr lang="en-US" altLang="ru-RU"/>
              <a:t> </a:t>
            </a:r>
            <a:r>
              <a:rPr lang="en-US" altLang="en-US"/>
              <a:t>проектами</a:t>
            </a:r>
            <a:r>
              <a:rPr lang="en-US" altLang="ru-RU"/>
              <a:t>;</a:t>
            </a:r>
            <a:endParaRPr lang="en-US" altLang="ru-RU"/>
          </a:p>
          <a:p>
            <a:endParaRPr lang="en-US" altLang="ru-RU"/>
          </a:p>
          <a:p>
            <a:r>
              <a:rPr lang="en-US" altLang="en-US"/>
              <a:t>разработана</a:t>
            </a:r>
            <a:r>
              <a:rPr lang="en-US" altLang="ru-RU"/>
              <a:t> </a:t>
            </a:r>
            <a:r>
              <a:rPr lang="en-US" altLang="en-US"/>
              <a:t>архитектура</a:t>
            </a:r>
            <a:r>
              <a:rPr lang="en-US" altLang="ru-RU"/>
              <a:t> </a:t>
            </a:r>
            <a:r>
              <a:rPr lang="en-US" altLang="en-US"/>
              <a:t>системы</a:t>
            </a:r>
            <a:r>
              <a:rPr lang="en-US" altLang="ru-RU"/>
              <a:t> </a:t>
            </a:r>
            <a:r>
              <a:rPr lang="en-US" altLang="en-US"/>
              <a:t>с</a:t>
            </a:r>
            <a:r>
              <a:rPr lang="en-US" altLang="ru-RU"/>
              <a:t> </a:t>
            </a:r>
            <a:r>
              <a:rPr lang="en-US" altLang="en-US"/>
              <a:t>аналитической</a:t>
            </a:r>
            <a:r>
              <a:rPr lang="en-US" altLang="ru-RU"/>
              <a:t> </a:t>
            </a:r>
            <a:r>
              <a:rPr lang="en-US" altLang="en-US"/>
              <a:t>поддержкой</a:t>
            </a:r>
            <a:r>
              <a:rPr lang="en-US" altLang="ru-RU"/>
              <a:t> Scrum;</a:t>
            </a:r>
            <a:endParaRPr lang="en-US" altLang="ru-RU"/>
          </a:p>
          <a:p>
            <a:endParaRPr lang="en-US" altLang="ru-RU"/>
          </a:p>
          <a:p>
            <a:r>
              <a:rPr lang="en-US" altLang="en-US"/>
              <a:t>реализованы</a:t>
            </a:r>
            <a:r>
              <a:rPr lang="en-US" altLang="ru-RU"/>
              <a:t> </a:t>
            </a:r>
            <a:r>
              <a:rPr lang="en-US" altLang="en-US"/>
              <a:t>основные</a:t>
            </a:r>
            <a:r>
              <a:rPr lang="en-US" altLang="ru-RU"/>
              <a:t> </a:t>
            </a:r>
            <a:r>
              <a:rPr lang="en-US" altLang="en-US"/>
              <a:t>модули</a:t>
            </a:r>
            <a:r>
              <a:rPr lang="en-US" altLang="ru-RU"/>
              <a:t> </a:t>
            </a:r>
            <a:r>
              <a:rPr lang="en-US" altLang="en-US"/>
              <a:t>управления</a:t>
            </a:r>
            <a:r>
              <a:rPr lang="en-US" altLang="ru-RU"/>
              <a:t> </a:t>
            </a:r>
            <a:r>
              <a:rPr lang="en-US" altLang="en-US"/>
              <a:t>проектами</a:t>
            </a:r>
            <a:r>
              <a:rPr lang="en-US" altLang="ru-RU"/>
              <a:t>;</a:t>
            </a:r>
            <a:endParaRPr lang="en-US" altLang="ru-RU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73675"/>
          </a:xfrm>
        </p:spPr>
        <p:txBody>
          <a:bodyPr>
            <a:normAutofit/>
          </a:bodyPr>
          <a:lstStyle/>
          <a:p>
            <a:pPr algn="ctr"/>
            <a:r>
              <a:rPr lang="ru-RU" sz="8000" dirty="0" smtClean="0"/>
              <a:t>Спасибо за внимание!</a:t>
            </a:r>
            <a:endParaRPr lang="ru-RU" sz="8000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230.4,&quot;left&quot;:57.6,&quot;top&quot;:118.8,&quot;width&quot;:837.3599999999999}"/>
</p:tagLst>
</file>

<file path=ppt/tags/tag2.xml><?xml version="1.0" encoding="utf-8"?>
<p:tagLst xmlns:p="http://schemas.openxmlformats.org/presentationml/2006/main">
  <p:tag name="KSO_WM_DIAGRAM_VIRTUALLY_FRAME" val="{&quot;height&quot;:230.4,&quot;left&quot;:57.6,&quot;top&quot;:118.8,&quot;width&quot;:837.3599999999999}"/>
</p:tagLst>
</file>

<file path=ppt/tags/tag3.xml><?xml version="1.0" encoding="utf-8"?>
<p:tagLst xmlns:p="http://schemas.openxmlformats.org/presentationml/2006/main">
  <p:tag name="KSO_WM_DIAGRAM_VIRTUALLY_FRAME" val="{&quot;height&quot;:230.4,&quot;left&quot;:57.6,&quot;top&quot;:118.8,&quot;width&quot;:837.3599999999999}"/>
</p:tagLst>
</file>

<file path=ppt/tags/tag4.xml><?xml version="1.0" encoding="utf-8"?>
<p:tagLst xmlns:p="http://schemas.openxmlformats.org/presentationml/2006/main">
  <p:tag name="KSO_WM_DIAGRAM_VIRTUALLY_FRAME" val="{&quot;height&quot;:230.4,&quot;left&quot;:57.6,&quot;top&quot;:118.8,&quot;width&quot;:837.3599999999999}"/>
</p:tagLst>
</file>

<file path=ppt/tags/tag5.xml><?xml version="1.0" encoding="utf-8"?>
<p:tagLst xmlns:p="http://schemas.openxmlformats.org/presentationml/2006/main">
  <p:tag name="KSO_WM_DIAGRAM_VIRTUALLY_FRAME" val="{&quot;height&quot;:230.4,&quot;left&quot;:57.6,&quot;top&quot;:118.8,&quot;width&quot;:837.3599999999999}"/>
</p:tagLst>
</file>

<file path=ppt/tags/tag6.xml><?xml version="1.0" encoding="utf-8"?>
<p:tagLst xmlns:p="http://schemas.openxmlformats.org/presentationml/2006/main">
  <p:tag name="KSO_WM_DIAGRAM_VIRTUALLY_FRAME" val="{&quot;height&quot;:230.4,&quot;left&quot;:57.6,&quot;top&quot;:118.8,&quot;width&quot;:837.3599999999999}"/>
</p:tagLst>
</file>

<file path=ppt/tags/tag7.xml><?xml version="1.0" encoding="utf-8"?>
<p:tagLst xmlns:p="http://schemas.openxmlformats.org/presentationml/2006/main">
  <p:tag name="KSO_WM_DIAGRAM_VIRTUALLY_FRAME" val="{&quot;height&quot;:230.4,&quot;left&quot;:57.6,&quot;top&quot;:118.8,&quot;width&quot;:837.3599999999999}"/>
</p:tagLst>
</file>

<file path=ppt/tags/tag8.xml><?xml version="1.0" encoding="utf-8"?>
<p:tagLst xmlns:p="http://schemas.openxmlformats.org/presentationml/2006/main">
  <p:tag name="KSO_WM_DIAGRAM_VIRTUALLY_FRAME" val="{&quot;height&quot;:230.4,&quot;left&quot;:57.6,&quot;top&quot;:118.8,&quot;width&quot;:837.3599999999999}"/>
</p:tagLst>
</file>

<file path=ppt/tags/tag9.xml><?xml version="1.0" encoding="utf-8"?>
<p:tagLst xmlns:p="http://schemas.openxmlformats.org/presentationml/2006/main">
  <p:tag name="KSO_WM_DIAGRAM_VIRTUALLY_FRAME" val="{&quot;height&quot;:230.4,&quot;left&quot;:57.6,&quot;top&quot;:118.8,&quot;width&quot;:837.3599999999999}"/>
</p:tagLst>
</file>

<file path=ppt/tags/tag10.xml><?xml version="1.0" encoding="utf-8"?>
<p:tagLst xmlns:p="http://schemas.openxmlformats.org/presentationml/2006/main">
  <p:tag name="KSO_WM_DIAGRAM_VIRTUALLY_FRAME" val="{&quot;height&quot;:230.4,&quot;left&quot;:57.6,&quot;top&quot;:118.8,&quot;width&quot;:837.3599999999999}"/>
</p:tagLst>
</file>

<file path=ppt/tags/tag11.xml><?xml version="1.0" encoding="utf-8"?>
<p:tagLst xmlns:p="http://schemas.openxmlformats.org/presentationml/2006/main">
  <p:tag name="KSO_WM_DIAGRAM_VIRTUALLY_FRAME" val="{&quot;height&quot;:230.4,&quot;left&quot;:57.6,&quot;top&quot;:118.8,&quot;width&quot;:837.3599999999999}"/>
</p:tagLst>
</file>

<file path=ppt/tags/tag12.xml><?xml version="1.0" encoding="utf-8"?>
<p:tagLst xmlns:p="http://schemas.openxmlformats.org/presentationml/2006/main">
  <p:tag name="KSO_WM_DIAGRAM_VIRTUALLY_FRAME" val="{&quot;height&quot;:230.4,&quot;left&quot;:57.6,&quot;top&quot;:118.8,&quot;width&quot;:837.3599999999999}"/>
</p:tagLst>
</file>

<file path=ppt/tags/tag13.xml><?xml version="1.0" encoding="utf-8"?>
<p:tagLst xmlns:p="http://schemas.openxmlformats.org/presentationml/2006/main">
  <p:tag name="KSO_WM_DIAGRAM_VIRTUALLY_FRAME" val="{&quot;height&quot;:230.4,&quot;left&quot;:57.6,&quot;top&quot;:118.8,&quot;width&quot;:837.3599999999999}"/>
</p:tagLst>
</file>

<file path=ppt/tags/tag14.xml><?xml version="1.0" encoding="utf-8"?>
<p:tagLst xmlns:p="http://schemas.openxmlformats.org/presentationml/2006/main">
  <p:tag name="KSO_WM_DIAGRAM_VIRTUALLY_FRAME" val="{&quot;height&quot;:230.4,&quot;left&quot;:57.6,&quot;top&quot;:118.8,&quot;width&quot;:837.3599999999999}"/>
</p:tagLst>
</file>

<file path=ppt/tags/tag15.xml><?xml version="1.0" encoding="utf-8"?>
<p:tagLst xmlns:p="http://schemas.openxmlformats.org/presentationml/2006/main">
  <p:tag name="KSO_WM_DIAGRAM_VIRTUALLY_FRAME" val="{&quot;height&quot;:230.4,&quot;left&quot;:57.6,&quot;top&quot;:118.8,&quot;width&quot;:837.3599999999999}"/>
</p:tagLst>
</file>

<file path=ppt/tags/tag16.xml><?xml version="1.0" encoding="utf-8"?>
<p:tagLst xmlns:p="http://schemas.openxmlformats.org/presentationml/2006/main">
  <p:tag name="KSO_WM_DIAGRAM_VIRTUALLY_FRAME" val="{&quot;height&quot;:230.4,&quot;left&quot;:57.6,&quot;top&quot;:118.8,&quot;width&quot;:837.3599999999999}"/>
</p:tagLst>
</file>

<file path=ppt/tags/tag17.xml><?xml version="1.0" encoding="utf-8"?>
<p:tagLst xmlns:p="http://schemas.openxmlformats.org/presentationml/2006/main">
  <p:tag name="KSO_WM_DIAGRAM_VIRTUALLY_FRAME" val="{&quot;height&quot;:230.4,&quot;left&quot;:57.6,&quot;top&quot;:118.8,&quot;width&quot;:837.3599999999999}"/>
</p:tagLst>
</file>

<file path=ppt/tags/tag18.xml><?xml version="1.0" encoding="utf-8"?>
<p:tagLst xmlns:p="http://schemas.openxmlformats.org/presentationml/2006/main">
  <p:tag name="KSO_WM_DIAGRAM_VIRTUALLY_FRAME" val="{&quot;height&quot;:230.4,&quot;left&quot;:57.6,&quot;top&quot;:118.8,&quot;width&quot;:837.3599999999999}"/>
</p:tagLst>
</file>

<file path=ppt/tags/tag19.xml><?xml version="1.0" encoding="utf-8"?>
<p:tagLst xmlns:p="http://schemas.openxmlformats.org/presentationml/2006/main">
  <p:tag name="KSO_WM_DIAGRAM_VIRTUALLY_FRAME" val="{&quot;height&quot;:230.4,&quot;left&quot;:57.6,&quot;top&quot;:118.8,&quot;width&quot;:837.3599999999999}"/>
</p:tagLst>
</file>

<file path=ppt/tags/tag20.xml><?xml version="1.0" encoding="utf-8"?>
<p:tagLst xmlns:p="http://schemas.openxmlformats.org/presentationml/2006/main">
  <p:tag name="KSO_WM_DIAGRAM_VIRTUALLY_FRAME" val="{&quot;height&quot;:230.4,&quot;left&quot;:57.6,&quot;top&quot;:118.8,&quot;width&quot;:837.3599999999999}"/>
</p:tagLst>
</file>

<file path=ppt/tags/tag21.xml><?xml version="1.0" encoding="utf-8"?>
<p:tagLst xmlns:p="http://schemas.openxmlformats.org/presentationml/2006/main">
  <p:tag name="KSO_WM_DIAGRAM_VIRTUALLY_FRAME" val="{&quot;height&quot;:230.4,&quot;left&quot;:57.6,&quot;top&quot;:118.8,&quot;width&quot;:837.3599999999999}"/>
</p:tagLst>
</file>

<file path=ppt/tags/tag22.xml><?xml version="1.0" encoding="utf-8"?>
<p:tagLst xmlns:p="http://schemas.openxmlformats.org/presentationml/2006/main">
  <p:tag name="KSO_WM_DIAGRAM_VIRTUALLY_FRAME" val="{&quot;height&quot;:230.4,&quot;left&quot;:57.6,&quot;top&quot;:118.8,&quot;width&quot;:837.3599999999999}"/>
</p:tagLst>
</file>

<file path=ppt/tags/tag23.xml><?xml version="1.0" encoding="utf-8"?>
<p:tagLst xmlns:p="http://schemas.openxmlformats.org/presentationml/2006/main">
  <p:tag name="KSO_WM_DIAGRAM_VIRTUALLY_FRAME" val="{&quot;height&quot;:230.4,&quot;left&quot;:57.6,&quot;top&quot;:118.8,&quot;width&quot;:837.3599999999999}"/>
</p:tagLst>
</file>

<file path=ppt/tags/tag24.xml><?xml version="1.0" encoding="utf-8"?>
<p:tagLst xmlns:p="http://schemas.openxmlformats.org/presentationml/2006/main">
  <p:tag name="KSO_WM_DIAGRAM_VIRTUALLY_FRAME" val="{&quot;height&quot;:230.4,&quot;left&quot;:57.6,&quot;top&quot;:118.8,&quot;width&quot;:837.3599999999999}"/>
</p:tagLst>
</file>

<file path=ppt/tags/tag25.xml><?xml version="1.0" encoding="utf-8"?>
<p:tagLst xmlns:p="http://schemas.openxmlformats.org/presentationml/2006/main">
  <p:tag name="KSO_WM_DIAGRAM_VIRTUALLY_FRAME" val="{&quot;height&quot;:230.4,&quot;left&quot;:57.6,&quot;top&quot;:118.8,&quot;width&quot;:837.3599999999999}"/>
</p:tagLst>
</file>

<file path=ppt/tags/tag26.xml><?xml version="1.0" encoding="utf-8"?>
<p:tagLst xmlns:p="http://schemas.openxmlformats.org/presentationml/2006/main">
  <p:tag name="KSO_WM_DIAGRAM_VIRTUALLY_FRAME" val="{&quot;height&quot;:230.4,&quot;left&quot;:57.6,&quot;top&quot;:118.8,&quot;width&quot;:837.3599999999999}"/>
</p:tagLst>
</file>

<file path=ppt/tags/tag27.xml><?xml version="1.0" encoding="utf-8"?>
<p:tagLst xmlns:p="http://schemas.openxmlformats.org/presentationml/2006/main">
  <p:tag name="KSO_WM_DIAGRAM_VIRTUALLY_FRAME" val="{&quot;height&quot;:230.4,&quot;left&quot;:57.6,&quot;top&quot;:118.8,&quot;width&quot;:837.3599999999999}"/>
</p:tagLst>
</file>

<file path=ppt/tags/tag28.xml><?xml version="1.0" encoding="utf-8"?>
<p:tagLst xmlns:p="http://schemas.openxmlformats.org/presentationml/2006/main">
  <p:tag name="KSO_WM_DIAGRAM_VIRTUALLY_FRAME" val="{&quot;height&quot;:230.4,&quot;left&quot;:57.6,&quot;top&quot;:118.8,&quot;width&quot;:837.3599999999999}"/>
</p:tagLst>
</file>

<file path=ppt/tags/tag29.xml><?xml version="1.0" encoding="utf-8"?>
<p:tagLst xmlns:p="http://schemas.openxmlformats.org/presentationml/2006/main">
  <p:tag name="KSO_WM_DIAGRAM_VIRTUALLY_FRAME" val="{&quot;height&quot;:230.4,&quot;left&quot;:57.6,&quot;top&quot;:118.8,&quot;width&quot;:837.3599999999999}"/>
</p:tagLst>
</file>

<file path=ppt/tags/tag30.xml><?xml version="1.0" encoding="utf-8"?>
<p:tagLst xmlns:p="http://schemas.openxmlformats.org/presentationml/2006/main">
  <p:tag name="KSO_WM_DIAGRAM_VIRTUALLY_FRAME" val="{&quot;height&quot;:349.2,&quot;left&quot;:543.6,&quot;top&quot;:115.2,&quot;width&quot;:356.4}"/>
</p:tagLst>
</file>

<file path=ppt/tags/tag31.xml><?xml version="1.0" encoding="utf-8"?>
<p:tagLst xmlns:p="http://schemas.openxmlformats.org/presentationml/2006/main">
  <p:tag name="KSO_WM_DIAGRAM_VIRTUALLY_FRAME" val="{&quot;height&quot;:349.2,&quot;left&quot;:543.6,&quot;top&quot;:115.2,&quot;width&quot;:356.4}"/>
</p:tagLst>
</file>

<file path=ppt/tags/tag32.xml><?xml version="1.0" encoding="utf-8"?>
<p:tagLst xmlns:p="http://schemas.openxmlformats.org/presentationml/2006/main">
  <p:tag name="KSO_WM_DIAGRAM_VIRTUALLY_FRAME" val="{&quot;height&quot;:349.2,&quot;left&quot;:543.6,&quot;top&quot;:115.2,&quot;width&quot;:356.4}"/>
</p:tagLst>
</file>

<file path=ppt/tags/tag33.xml><?xml version="1.0" encoding="utf-8"?>
<p:tagLst xmlns:p="http://schemas.openxmlformats.org/presentationml/2006/main">
  <p:tag name="KSO_WM_DIAGRAM_VIRTUALLY_FRAME" val="{&quot;height&quot;:349.2,&quot;left&quot;:543.6,&quot;top&quot;:115.2,&quot;width&quot;:356.4}"/>
</p:tagLst>
</file>

<file path=ppt/tags/tag34.xml><?xml version="1.0" encoding="utf-8"?>
<p:tagLst xmlns:p="http://schemas.openxmlformats.org/presentationml/2006/main">
  <p:tag name="KSO_WM_DIAGRAM_VIRTUALLY_FRAME" val="{&quot;height&quot;:349.2,&quot;left&quot;:543.6,&quot;top&quot;:115.2,&quot;width&quot;:356.4}"/>
</p:tagLst>
</file>

<file path=ppt/tags/tag35.xml><?xml version="1.0" encoding="utf-8"?>
<p:tagLst xmlns:p="http://schemas.openxmlformats.org/presentationml/2006/main">
  <p:tag name="KSO_WM_DIAGRAM_VIRTUALLY_FRAME" val="{&quot;height&quot;:349.2,&quot;left&quot;:543.6,&quot;top&quot;:115.2,&quot;width&quot;:356.4}"/>
</p:tagLst>
</file>

<file path=ppt/tags/tag36.xml><?xml version="1.0" encoding="utf-8"?>
<p:tagLst xmlns:p="http://schemas.openxmlformats.org/presentationml/2006/main">
  <p:tag name="KSO_WM_DIAGRAM_VIRTUALLY_FRAME" val="{&quot;height&quot;:349.2,&quot;left&quot;:543.6,&quot;top&quot;:115.2,&quot;width&quot;:356.4}"/>
</p:tagLst>
</file>

<file path=ppt/tags/tag37.xml><?xml version="1.0" encoding="utf-8"?>
<p:tagLst xmlns:p="http://schemas.openxmlformats.org/presentationml/2006/main">
  <p:tag name="KSO_WM_DIAGRAM_VIRTUALLY_FRAME" val="{&quot;height&quot;:349.2,&quot;left&quot;:543.6,&quot;top&quot;:115.2,&quot;width&quot;:356.4}"/>
</p:tagLst>
</file>

<file path=ppt/tags/tag38.xml><?xml version="1.0" encoding="utf-8"?>
<p:tagLst xmlns:p="http://schemas.openxmlformats.org/presentationml/2006/main">
  <p:tag name="KSO_WM_DIAGRAM_VIRTUALLY_FRAME" val="{&quot;height&quot;:349.2,&quot;left&quot;:543.6,&quot;top&quot;:115.2,&quot;width&quot;:356.4}"/>
</p:tagLst>
</file>

<file path=ppt/tags/tag39.xml><?xml version="1.0" encoding="utf-8"?>
<p:tagLst xmlns:p="http://schemas.openxmlformats.org/presentationml/2006/main">
  <p:tag name="KSO_WM_DIAGRAM_VIRTUALLY_FRAME" val="{&quot;height&quot;:349.2,&quot;left&quot;:543.6,&quot;top&quot;:115.2,&quot;width&quot;:356.4}"/>
</p:tagLst>
</file>

<file path=ppt/tags/tag40.xml><?xml version="1.0" encoding="utf-8"?>
<p:tagLst xmlns:p="http://schemas.openxmlformats.org/presentationml/2006/main">
  <p:tag name="KSO_WM_DIAGRAM_VIRTUALLY_FRAME" val="{&quot;height&quot;:349.2,&quot;left&quot;:543.6,&quot;top&quot;:115.2,&quot;width&quot;:356.4}"/>
</p:tagLst>
</file>

<file path=ppt/tags/tag41.xml><?xml version="1.0" encoding="utf-8"?>
<p:tagLst xmlns:p="http://schemas.openxmlformats.org/presentationml/2006/main">
  <p:tag name="KSO_WM_DIAGRAM_VIRTUALLY_FRAME" val="{&quot;height&quot;:349.2,&quot;left&quot;:543.6,&quot;top&quot;:115.2,&quot;width&quot;:356.4}"/>
</p:tagLst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Уголки</Template>
  <TotalTime>0</TotalTime>
  <Words>5240</Words>
  <Application>WPS Presentation</Application>
  <PresentationFormat>Широкоэкранный</PresentationFormat>
  <Paragraphs>255</Paragraphs>
  <Slides>14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1" baseType="lpstr">
      <vt:lpstr>Arial</vt:lpstr>
      <vt:lpstr>SimSun</vt:lpstr>
      <vt:lpstr>Wingdings</vt:lpstr>
      <vt:lpstr>Calibri</vt:lpstr>
      <vt:lpstr>Calibri Light</vt:lpstr>
      <vt:lpstr>Microsoft YaHei</vt:lpstr>
      <vt:lpstr>Arial Unicode MS</vt:lpstr>
      <vt:lpstr>Aptos</vt:lpstr>
      <vt:lpstr>Segoe UI</vt:lpstr>
      <vt:lpstr>Aptos Display</vt:lpstr>
      <vt:lpstr>Segoe UI Variable Display</vt:lpstr>
      <vt:lpstr>Aptos Display</vt:lpstr>
      <vt:lpstr>Aptos Display</vt:lpstr>
      <vt:lpstr>Aptos</vt:lpstr>
      <vt:lpstr>Aptos</vt:lpstr>
      <vt:lpstr>Aptos</vt:lpstr>
      <vt:lpstr>Default Design</vt:lpstr>
      <vt:lpstr>PowerPoint 演示文稿</vt:lpstr>
      <vt:lpstr>Системы управления проектами с применением Agile и Scrum</vt:lpstr>
      <vt:lpstr>Проблема</vt:lpstr>
      <vt:lpstr>PowerPoint 演示文稿</vt:lpstr>
      <vt:lpstr>Решение</vt:lpstr>
      <vt:lpstr>PowerPoint 演示文稿</vt:lpstr>
      <vt:lpstr>Преимущества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ИТОГИ РАБОТЫ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Viktorov Vsevolod</dc:creator>
  <cp:lastModifiedBy>fergus</cp:lastModifiedBy>
  <cp:revision>36</cp:revision>
  <dcterms:created xsi:type="dcterms:W3CDTF">2024-11-11T07:32:00Z</dcterms:created>
  <dcterms:modified xsi:type="dcterms:W3CDTF">2026-03-30T05:43:37Z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1049-12.2.0.23197</vt:lpwstr>
  </property>
  <property fmtid="{D5CDD505-2E9C-101B-9397-08002B2CF9AE}" pid="3" name="ICV">
    <vt:lpwstr>9852256209454167A5A0DA9C04A24CEE_13</vt:lpwstr>
  </property>
</Properties>
</file>