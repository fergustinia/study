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17"/>
  </p:handoutMasterIdLst>
  <p:sldIdLst>
    <p:sldId id="259" r:id="rId3"/>
    <p:sldId id="268" r:id="rId5"/>
    <p:sldId id="266" r:id="rId6"/>
    <p:sldId id="279" r:id="rId7"/>
    <p:sldId id="280" r:id="rId8"/>
    <p:sldId id="292" r:id="rId9"/>
    <p:sldId id="293" r:id="rId10"/>
    <p:sldId id="294" r:id="rId11"/>
    <p:sldId id="295" r:id="rId12"/>
    <p:sldId id="267" r:id="rId13"/>
    <p:sldId id="286" r:id="rId14"/>
    <p:sldId id="287" r:id="rId15"/>
    <p:sldId id="288" r:id="rId1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7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25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852" y="126"/>
      </p:cViewPr>
      <p:guideLst>
        <p:guide orient="horz" pos="217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handoutMaster" Target="handoutMasters/handoutMaster1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en-US" smtClean="0"/>
            </a:fld>
            <a:endParaRPr lang="en-US"/>
          </a:p>
        </p:txBody>
      </p:sp>
      <p:sp>
        <p:nvSpPr>
          <p:cNvPr id="4" name="Slide Image Placehoder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E26F9-B1B7-4CD1-84E0-AADEB28128F6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EB3F84-F9D6-4275-87D4-B9EB9D964FE9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E03665-21EA-49DB-834A-23136874909C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4C180-C1A4-46D7-B486-5205252665FA}" type="datetime1">
              <a:rPr lang="en-US" smtClean="0"/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5BA7D-AD6D-4EA9-ADB2-3B65788F4717}" type="datetime1">
              <a:rPr lang="en-US" smtClean="0"/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713E23-C751-44AF-9DAC-B513EF1AB44A}" type="datetime1">
              <a:rPr lang="en-US" smtClean="0"/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0EDF-D25F-4ED3-AA58-8AFB119CA9D9}" type="datetime1">
              <a:rPr lang="en-US" smtClean="0"/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45EFB5E-7C54-4C29-BEE6-9F5CF3400480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  <a:endParaRPr lang="ru-RU" smtClean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2AE6B-33A3-44F5-AF32-9A9BD4C43B8A}" type="datetime1">
              <a:rPr lang="en-US" smtClean="0"/>
            </a:fld>
            <a:endParaRPr lang="en-US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2485674-3A50-46D7-821D-03B73699769C}" type="datetime1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3831447-C893-4FB7-A405-85B25DF4EE90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6BC772-08B9-41C4-AAA9-F82ED33EECB9}" type="datetime1">
              <a:rPr lang="en-US" smtClean="0"/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FB517-99D1-4783-8F57-0F7695BB67AF}" type="datetime1">
              <a:rPr lang="en-US" smtClean="0"/>
            </a:fld>
            <a:endParaRPr lang="en-US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86242" cy="5281863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740" y="5424455"/>
            <a:ext cx="2665723" cy="1184877"/>
          </a:xfrm>
          <a:prstGeom prst="rect">
            <a:avLst/>
          </a:prstGeom>
        </p:spPr>
      </p:pic>
      <p:sp>
        <p:nvSpPr>
          <p:cNvPr id="11" name="Shape 179"/>
          <p:cNvSpPr txBox="1"/>
          <p:nvPr/>
        </p:nvSpPr>
        <p:spPr>
          <a:xfrm>
            <a:off x="3577027" y="5424454"/>
            <a:ext cx="8609215" cy="1158969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lvl="1" indent="457200" algn="r" defTabSz="897890">
              <a:lnSpc>
                <a:spcPts val="2300"/>
              </a:lnSpc>
              <a:defRPr sz="1800">
                <a:solidFill>
                  <a:srgbClr val="000000"/>
                </a:solidFill>
              </a:defRPr>
            </a:pPr>
            <a:r>
              <a:rPr lang="en-US" altLang="en-US" sz="2400" dirty="0" smtClean="0">
                <a:solidFill>
                  <a:srgbClr val="000000"/>
                </a:solidFill>
              </a:rPr>
              <a:t>Разработка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системы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управления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проектами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с</a:t>
            </a:r>
            <a:r>
              <a:rPr lang="en-US" altLang="ru-RU" sz="2400" dirty="0" smtClean="0">
                <a:solidFill>
                  <a:srgbClr val="000000"/>
                </a:solidFill>
              </a:rPr>
              <a:t> </a:t>
            </a:r>
            <a:r>
              <a:rPr lang="en-US" altLang="en-US" sz="2400" dirty="0" smtClean="0">
                <a:solidFill>
                  <a:srgbClr val="000000"/>
                </a:solidFill>
              </a:rPr>
              <a:t>применением</a:t>
            </a:r>
            <a:r>
              <a:rPr lang="en-US" altLang="ru-RU" sz="2400" dirty="0" smtClean="0">
                <a:solidFill>
                  <a:srgbClr val="000000"/>
                </a:solidFill>
              </a:rPr>
              <a:t> Agile </a:t>
            </a:r>
            <a:r>
              <a:rPr lang="en-US" altLang="en-US" sz="2400" dirty="0" smtClean="0">
                <a:solidFill>
                  <a:srgbClr val="000000"/>
                </a:solidFill>
              </a:rPr>
              <a:t>и</a:t>
            </a:r>
            <a:r>
              <a:rPr lang="en-US" altLang="ru-RU" sz="2400" dirty="0" smtClean="0">
                <a:solidFill>
                  <a:srgbClr val="000000"/>
                </a:solidFill>
              </a:rPr>
              <a:t> Scrum</a:t>
            </a:r>
            <a:endParaRPr lang="en-US" altLang="ru-RU" sz="2400" b="1" dirty="0" smtClean="0">
              <a:solidFill>
                <a:srgbClr val="000000"/>
              </a:solidFill>
            </a:endParaRPr>
          </a:p>
          <a:p>
            <a:pPr algn="r"/>
            <a:r>
              <a:rPr lang="ru-RU" altLang="en-US" sz="1800" b="1" dirty="0"/>
              <a:t>Автор: Прокопьев Даниил Андреевич</a:t>
            </a:r>
            <a:r>
              <a:rPr lang="ru-RU" altLang="en-US" sz="1800" b="1" dirty="0" smtClean="0"/>
              <a:t>, </a:t>
            </a:r>
            <a:r>
              <a:rPr lang="ru-RU" altLang="en-US" sz="1800" b="1" dirty="0"/>
              <a:t>группа 932204</a:t>
            </a:r>
            <a:endParaRPr lang="ru-RU" altLang="en-US" sz="1800" b="1" dirty="0"/>
          </a:p>
          <a:p>
            <a:pPr algn="r"/>
            <a:r>
              <a:rPr lang="ru-RU" altLang="en-US" sz="1800" b="1" dirty="0"/>
              <a:t>Научный руководитель: канд. физ.-мат. наук Морозова А. С.</a:t>
            </a:r>
            <a:endParaRPr lang="ru-RU" altLang="en-US" sz="1800" b="1" dirty="0"/>
          </a:p>
          <a:p>
            <a:pPr algn="r" defTabSz="897890">
              <a:lnSpc>
                <a:spcPts val="2300"/>
              </a:lnSpc>
              <a:defRPr sz="1800">
                <a:solidFill>
                  <a:srgbClr val="000000"/>
                </a:solidFill>
              </a:defRPr>
            </a:pPr>
            <a:endParaRPr lang="ru-RU" sz="1800" b="1" dirty="0">
              <a:solidFill>
                <a:srgbClr val="000000"/>
              </a:solidFill>
              <a:latin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altLang="en-US" sz="4800" dirty="0" smtClean="0">
                <a:solidFill>
                  <a:srgbClr val="000000"/>
                </a:solidFill>
                <a:sym typeface="+mn-ea"/>
              </a:rPr>
              <a:t>С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истемы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управления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проектами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с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применением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Agile </a:t>
            </a:r>
            <a:r>
              <a:rPr lang="en-US" altLang="en-US" sz="4800" dirty="0" smtClean="0">
                <a:solidFill>
                  <a:srgbClr val="000000"/>
                </a:solidFill>
                <a:sym typeface="+mn-ea"/>
              </a:rPr>
              <a:t>и</a:t>
            </a:r>
            <a:r>
              <a:rPr lang="en-US" altLang="ru-RU" sz="4800" dirty="0" smtClean="0">
                <a:solidFill>
                  <a:srgbClr val="000000"/>
                </a:solidFill>
                <a:sym typeface="+mn-ea"/>
              </a:rPr>
              <a:t> Scrum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05012"/>
            <a:ext cx="10515600" cy="4351338"/>
          </a:xfrm>
        </p:spPr>
        <p:txBody>
          <a:bodyPr>
            <a:normAutofit lnSpcReduction="20000"/>
          </a:bodyPr>
          <a:lstStyle/>
          <a:p>
            <a:r>
              <a:rPr lang="ru-RU" altLang="ru-RU" sz="3200" dirty="0"/>
              <a:t>Дипломная работа</a:t>
            </a:r>
            <a:r>
              <a:rPr lang="en-US" altLang="ru-RU" sz="3200" dirty="0"/>
              <a:t> </a:t>
            </a:r>
            <a:r>
              <a:rPr lang="en-US" altLang="en-US" sz="3200" dirty="0"/>
              <a:t>посвящена</a:t>
            </a:r>
            <a:r>
              <a:rPr lang="en-US" altLang="ru-RU" sz="3200" dirty="0"/>
              <a:t> </a:t>
            </a:r>
            <a:r>
              <a:rPr lang="en-US" altLang="en-US" sz="3200" dirty="0"/>
              <a:t>разработке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системы</a:t>
            </a:r>
            <a:r>
              <a:rPr lang="en-US" altLang="ru-RU" sz="3200" dirty="0"/>
              <a:t> </a:t>
            </a:r>
            <a:r>
              <a:rPr lang="en-US" altLang="en-US" sz="3200" dirty="0"/>
              <a:t>управления</a:t>
            </a:r>
            <a:r>
              <a:rPr lang="en-US" altLang="ru-RU" sz="3200" dirty="0"/>
              <a:t> </a:t>
            </a:r>
            <a:r>
              <a:rPr lang="en-US" altLang="en-US" sz="3200" dirty="0"/>
              <a:t>проектами</a:t>
            </a:r>
            <a:r>
              <a:rPr lang="en-US" altLang="ru-RU" sz="3200" dirty="0"/>
              <a:t> </a:t>
            </a:r>
            <a:r>
              <a:rPr lang="en-US" altLang="en-US" sz="3200" dirty="0"/>
              <a:t>с</a:t>
            </a:r>
            <a:r>
              <a:rPr lang="en-US" altLang="ru-RU" sz="3200" dirty="0"/>
              <a:t> </a:t>
            </a:r>
            <a:r>
              <a:rPr lang="en-US" altLang="en-US" sz="3200" dirty="0"/>
              <a:t>применением</a:t>
            </a:r>
            <a:r>
              <a:rPr lang="en-US" altLang="ru-RU" sz="3200" dirty="0"/>
              <a:t> </a:t>
            </a:r>
            <a:r>
              <a:rPr lang="en-US" altLang="en-US" sz="3200" dirty="0"/>
              <a:t>методологий</a:t>
            </a:r>
            <a:r>
              <a:rPr lang="en-US" altLang="ru-RU" sz="3200" dirty="0"/>
              <a:t> Agile </a:t>
            </a:r>
            <a:r>
              <a:rPr lang="en-US" altLang="en-US" sz="3200" dirty="0"/>
              <a:t>и</a:t>
            </a:r>
            <a:r>
              <a:rPr lang="en-US" altLang="ru-RU" sz="3200" dirty="0"/>
              <a:t> Scrum, </a:t>
            </a:r>
            <a:r>
              <a:rPr lang="en-US" altLang="en-US" sz="3200" dirty="0"/>
              <a:t>ориентированной</a:t>
            </a:r>
            <a:r>
              <a:rPr lang="en-US" altLang="ru-RU" sz="3200" dirty="0"/>
              <a:t> </a:t>
            </a:r>
            <a:r>
              <a:rPr lang="en-US" altLang="en-US" sz="3200" dirty="0"/>
              <a:t>на</a:t>
            </a:r>
            <a:r>
              <a:rPr lang="en-US" altLang="ru-RU" sz="3200" dirty="0"/>
              <a:t> </a:t>
            </a:r>
            <a:r>
              <a:rPr lang="en-US" altLang="en-US" sz="3200" dirty="0"/>
              <a:t>малые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средние</a:t>
            </a:r>
            <a:r>
              <a:rPr lang="en-US" altLang="ru-RU" sz="3200" dirty="0"/>
              <a:t> </a:t>
            </a:r>
            <a:r>
              <a:rPr lang="en-US" altLang="en-US" sz="3200" dirty="0"/>
              <a:t>команды</a:t>
            </a:r>
            <a:r>
              <a:rPr lang="en-US" altLang="ru-RU" sz="3200" dirty="0"/>
              <a:t> </a:t>
            </a:r>
            <a:r>
              <a:rPr lang="en-US" altLang="en-US" sz="3200" dirty="0"/>
              <a:t>разработчиков</a:t>
            </a:r>
            <a:r>
              <a:rPr lang="en-US" altLang="ru-RU" sz="3200" dirty="0"/>
              <a:t>.</a:t>
            </a:r>
            <a:endParaRPr lang="en-US" altLang="ru-RU" sz="3200" dirty="0"/>
          </a:p>
          <a:p>
            <a:endParaRPr lang="en-US" altLang="en-US" sz="3200" dirty="0"/>
          </a:p>
          <a:p>
            <a:r>
              <a:rPr lang="en-US" altLang="en-US" sz="3200" dirty="0"/>
              <a:t>Цель</a:t>
            </a:r>
            <a:r>
              <a:rPr lang="en-US" altLang="ru-RU" sz="3200" dirty="0"/>
              <a:t> </a:t>
            </a:r>
            <a:r>
              <a:rPr lang="ru-RU" altLang="en-US" sz="3200" dirty="0"/>
              <a:t>дипломной работы</a:t>
            </a:r>
            <a:r>
              <a:rPr lang="en-US" altLang="ru-RU" sz="3200" dirty="0"/>
              <a:t> — </a:t>
            </a:r>
            <a:r>
              <a:rPr lang="en-US" altLang="en-US" sz="3200" dirty="0"/>
              <a:t>разработка</a:t>
            </a:r>
            <a:r>
              <a:rPr lang="en-US" altLang="ru-RU" sz="3200" dirty="0"/>
              <a:t> </a:t>
            </a:r>
            <a:r>
              <a:rPr lang="en-US" altLang="en-US" sz="3200" dirty="0"/>
              <a:t>прототипа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системы</a:t>
            </a:r>
            <a:r>
              <a:rPr lang="en-US" altLang="ru-RU" sz="3200" dirty="0"/>
              <a:t> </a:t>
            </a:r>
            <a:r>
              <a:rPr lang="en-US" altLang="en-US" sz="3200" dirty="0"/>
              <a:t>управления</a:t>
            </a:r>
            <a:r>
              <a:rPr lang="en-US" altLang="ru-RU" sz="3200" dirty="0"/>
              <a:t> </a:t>
            </a:r>
            <a:r>
              <a:rPr lang="en-US" altLang="en-US" sz="3200" dirty="0"/>
              <a:t>проектами</a:t>
            </a:r>
            <a:r>
              <a:rPr lang="en-US" altLang="ru-RU" sz="3200" dirty="0"/>
              <a:t>, </a:t>
            </a:r>
            <a:r>
              <a:rPr lang="en-US" altLang="en-US" sz="3200" dirty="0"/>
              <a:t>основанной</a:t>
            </a:r>
            <a:r>
              <a:rPr lang="en-US" altLang="ru-RU" sz="3200" dirty="0"/>
              <a:t> </a:t>
            </a:r>
            <a:r>
              <a:rPr lang="en-US" altLang="en-US" sz="3200" dirty="0"/>
              <a:t>на</a:t>
            </a:r>
            <a:r>
              <a:rPr lang="en-US" altLang="ru-RU" sz="3200" dirty="0"/>
              <a:t> </a:t>
            </a:r>
            <a:r>
              <a:rPr lang="en-US" altLang="en-US" sz="3200" dirty="0"/>
              <a:t>методологиях</a:t>
            </a:r>
            <a:r>
              <a:rPr lang="en-US" altLang="ru-RU" sz="3200" dirty="0"/>
              <a:t> Agile </a:t>
            </a:r>
            <a:r>
              <a:rPr lang="en-US" altLang="en-US" sz="3200" dirty="0"/>
              <a:t>и</a:t>
            </a:r>
            <a:r>
              <a:rPr lang="en-US" altLang="ru-RU" sz="3200" dirty="0"/>
              <a:t> Scrum, </a:t>
            </a:r>
            <a:r>
              <a:rPr lang="en-US" altLang="en-US" sz="3200" dirty="0"/>
              <a:t>сочетающей</a:t>
            </a:r>
            <a:r>
              <a:rPr lang="en-US" altLang="ru-RU" sz="3200" dirty="0"/>
              <a:t> </a:t>
            </a:r>
            <a:r>
              <a:rPr lang="en-US" altLang="en-US" sz="3200" dirty="0"/>
              <a:t>простоту</a:t>
            </a:r>
            <a:r>
              <a:rPr lang="en-US" altLang="ru-RU" sz="3200" dirty="0"/>
              <a:t> </a:t>
            </a:r>
            <a:r>
              <a:rPr lang="en-US" altLang="en-US" sz="3200" dirty="0"/>
              <a:t>интерфейса</a:t>
            </a:r>
            <a:r>
              <a:rPr lang="en-US" altLang="ru-RU" sz="3200" dirty="0"/>
              <a:t>, </a:t>
            </a:r>
            <a:r>
              <a:rPr lang="en-US" altLang="en-US" sz="3200" dirty="0"/>
              <a:t>гибкость</a:t>
            </a:r>
            <a:r>
              <a:rPr lang="en-US" altLang="ru-RU" sz="3200" dirty="0"/>
              <a:t> </a:t>
            </a:r>
            <a:r>
              <a:rPr lang="en-US" altLang="en-US" sz="3200" dirty="0"/>
              <a:t>настройки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встроенные</a:t>
            </a:r>
            <a:r>
              <a:rPr lang="en-US" altLang="ru-RU" sz="3200" dirty="0"/>
              <a:t> </a:t>
            </a:r>
            <a:r>
              <a:rPr lang="en-US" altLang="en-US" sz="3200" dirty="0"/>
              <a:t>средства</a:t>
            </a:r>
            <a:r>
              <a:rPr lang="en-US" altLang="ru-RU" sz="3200" dirty="0"/>
              <a:t> </a:t>
            </a:r>
            <a:r>
              <a:rPr lang="en-US" altLang="en-US" sz="3200" dirty="0"/>
              <a:t>аналитики</a:t>
            </a:r>
            <a:r>
              <a:rPr lang="en-US" altLang="ru-RU" sz="3200" dirty="0"/>
              <a:t> </a:t>
            </a:r>
            <a:r>
              <a:rPr lang="en-US" altLang="en-US" sz="3200" dirty="0"/>
              <a:t>для</a:t>
            </a:r>
            <a:r>
              <a:rPr lang="en-US" altLang="ru-RU" sz="3200" dirty="0"/>
              <a:t> </a:t>
            </a:r>
            <a:r>
              <a:rPr lang="en-US" altLang="en-US" sz="3200" dirty="0"/>
              <a:t>эффективной</a:t>
            </a:r>
            <a:r>
              <a:rPr lang="en-US" altLang="ru-RU" sz="3200" dirty="0"/>
              <a:t> </a:t>
            </a:r>
            <a:r>
              <a:rPr lang="en-US" altLang="en-US" sz="3200" dirty="0"/>
              <a:t>работы</a:t>
            </a:r>
            <a:r>
              <a:rPr lang="en-US" altLang="ru-RU" sz="3200" dirty="0"/>
              <a:t> </a:t>
            </a:r>
            <a:r>
              <a:rPr lang="en-US" altLang="en-US" sz="3200" dirty="0"/>
              <a:t>малых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средних</a:t>
            </a:r>
            <a:r>
              <a:rPr lang="en-US" altLang="ru-RU" sz="3200" dirty="0"/>
              <a:t> </a:t>
            </a:r>
            <a:r>
              <a:rPr lang="en-US" altLang="en-US" sz="3200" dirty="0"/>
              <a:t>команд</a:t>
            </a:r>
            <a:r>
              <a:rPr lang="en-US" altLang="ru-RU" sz="3200" dirty="0"/>
              <a:t>.</a:t>
            </a:r>
            <a:endParaRPr 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400" b="1" dirty="0"/>
              <a:t>Проблема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463932"/>
            <a:ext cx="10515600" cy="3272839"/>
          </a:xfrm>
        </p:spPr>
        <p:txBody>
          <a:bodyPr>
            <a:noAutofit/>
          </a:bodyPr>
          <a:lstStyle/>
          <a:p>
            <a:pPr marL="0" indent="457200">
              <a:buNone/>
            </a:pPr>
            <a:r>
              <a:rPr lang="en-US" altLang="en-US" sz="3200" dirty="0"/>
              <a:t>Существующие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системы</a:t>
            </a:r>
            <a:r>
              <a:rPr lang="en-US" altLang="ru-RU" sz="3200" dirty="0"/>
              <a:t> </a:t>
            </a:r>
            <a:r>
              <a:rPr lang="en-US" altLang="en-US" sz="3200" dirty="0"/>
              <a:t>управления</a:t>
            </a:r>
            <a:r>
              <a:rPr lang="en-US" altLang="ru-RU" sz="3200" dirty="0"/>
              <a:t> </a:t>
            </a:r>
            <a:r>
              <a:rPr lang="en-US" altLang="en-US" sz="3200" dirty="0"/>
              <a:t>проектами</a:t>
            </a:r>
            <a:r>
              <a:rPr lang="en-US" altLang="ru-RU" sz="3200" dirty="0"/>
              <a:t>, </a:t>
            </a:r>
            <a:r>
              <a:rPr lang="en-US" altLang="en-US" sz="3200" dirty="0"/>
              <a:t>такие</a:t>
            </a:r>
            <a:r>
              <a:rPr lang="en-US" altLang="ru-RU" sz="3200" dirty="0"/>
              <a:t> </a:t>
            </a:r>
            <a:r>
              <a:rPr lang="en-US" altLang="en-US" sz="3200" dirty="0"/>
              <a:t>как</a:t>
            </a:r>
            <a:r>
              <a:rPr lang="en-US" altLang="ru-RU" sz="3200" dirty="0"/>
              <a:t> Jira, Trello </a:t>
            </a:r>
            <a:r>
              <a:rPr lang="en-US" altLang="en-US" sz="3200" dirty="0"/>
              <a:t>и</a:t>
            </a:r>
            <a:r>
              <a:rPr lang="en-US" altLang="ru-RU" sz="3200" dirty="0"/>
              <a:t> YouTrack, </a:t>
            </a:r>
            <a:r>
              <a:rPr lang="en-US" altLang="en-US" sz="3200" dirty="0"/>
              <a:t>либо</a:t>
            </a:r>
            <a:r>
              <a:rPr lang="en-US" altLang="ru-RU" sz="3200" dirty="0"/>
              <a:t> </a:t>
            </a:r>
            <a:r>
              <a:rPr lang="en-US" altLang="en-US" sz="3200" dirty="0"/>
              <a:t>избыточно</a:t>
            </a:r>
            <a:r>
              <a:rPr lang="en-US" altLang="ru-RU" sz="3200" dirty="0"/>
              <a:t> </a:t>
            </a:r>
            <a:r>
              <a:rPr lang="en-US" altLang="en-US" sz="3200" dirty="0"/>
              <a:t>сложны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требуют</a:t>
            </a:r>
            <a:r>
              <a:rPr lang="en-US" altLang="ru-RU" sz="3200" dirty="0"/>
              <a:t> </a:t>
            </a:r>
            <a:r>
              <a:rPr lang="en-US" altLang="en-US" sz="3200" dirty="0"/>
              <a:t>длительного</a:t>
            </a:r>
            <a:r>
              <a:rPr lang="en-US" altLang="ru-RU" sz="3200" dirty="0"/>
              <a:t> </a:t>
            </a:r>
            <a:r>
              <a:rPr lang="en-US" altLang="en-US" sz="3200" dirty="0"/>
              <a:t>обучения</a:t>
            </a:r>
            <a:r>
              <a:rPr lang="en-US" altLang="ru-RU" sz="3200" dirty="0"/>
              <a:t>, </a:t>
            </a:r>
            <a:r>
              <a:rPr lang="en-US" altLang="en-US" sz="3200" dirty="0"/>
              <a:t>либо</a:t>
            </a:r>
            <a:r>
              <a:rPr lang="en-US" altLang="ru-RU" sz="3200" dirty="0"/>
              <a:t> </a:t>
            </a:r>
            <a:r>
              <a:rPr lang="en-US" altLang="en-US" sz="3200" dirty="0"/>
              <a:t>не</a:t>
            </a:r>
            <a:r>
              <a:rPr lang="en-US" altLang="ru-RU" sz="3200" dirty="0"/>
              <a:t> </a:t>
            </a:r>
            <a:r>
              <a:rPr lang="en-US" altLang="en-US" sz="3200" dirty="0"/>
              <a:t>обеспечивают</a:t>
            </a:r>
            <a:r>
              <a:rPr lang="en-US" altLang="ru-RU" sz="3200" dirty="0"/>
              <a:t> </a:t>
            </a:r>
            <a:r>
              <a:rPr lang="en-US" altLang="en-US" sz="3200" dirty="0"/>
              <a:t>достаточной</a:t>
            </a:r>
            <a:r>
              <a:rPr lang="en-US" altLang="ru-RU" sz="3200" dirty="0"/>
              <a:t> </a:t>
            </a:r>
            <a:r>
              <a:rPr lang="en-US" altLang="en-US" sz="3200" dirty="0"/>
              <a:t>гибкости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аналитики</a:t>
            </a:r>
            <a:r>
              <a:rPr lang="en-US" altLang="ru-RU" sz="3200" dirty="0"/>
              <a:t>. </a:t>
            </a:r>
            <a:r>
              <a:rPr lang="en-US" altLang="en-US" sz="3200" dirty="0"/>
              <a:t>Это</a:t>
            </a:r>
            <a:r>
              <a:rPr lang="en-US" altLang="ru-RU" sz="3200" dirty="0"/>
              <a:t> </a:t>
            </a:r>
            <a:r>
              <a:rPr lang="en-US" altLang="en-US" sz="3200" dirty="0"/>
              <a:t>особенно</a:t>
            </a:r>
            <a:r>
              <a:rPr lang="en-US" altLang="ru-RU" sz="3200" dirty="0"/>
              <a:t> </a:t>
            </a:r>
            <a:r>
              <a:rPr lang="en-US" altLang="en-US" sz="3200" dirty="0"/>
              <a:t>затрудняет</a:t>
            </a:r>
            <a:r>
              <a:rPr lang="en-US" altLang="ru-RU" sz="3200" dirty="0"/>
              <a:t> </a:t>
            </a:r>
            <a:r>
              <a:rPr lang="en-US" altLang="en-US" sz="3200" dirty="0"/>
              <a:t>работу</a:t>
            </a:r>
            <a:r>
              <a:rPr lang="en-US" altLang="ru-RU" sz="3200" dirty="0"/>
              <a:t> </a:t>
            </a:r>
            <a:r>
              <a:rPr lang="en-US" altLang="en-US" sz="3200" dirty="0"/>
              <a:t>малых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средних</a:t>
            </a:r>
            <a:r>
              <a:rPr lang="en-US" altLang="ru-RU" sz="3200" dirty="0"/>
              <a:t> </a:t>
            </a:r>
            <a:r>
              <a:rPr lang="en-US" altLang="en-US" sz="3200" dirty="0"/>
              <a:t>команд</a:t>
            </a:r>
            <a:r>
              <a:rPr lang="en-US" altLang="ru-RU" sz="3200" dirty="0"/>
              <a:t>, </a:t>
            </a:r>
            <a:r>
              <a:rPr lang="en-US" altLang="en-US" sz="3200" dirty="0"/>
              <a:t>которым</a:t>
            </a:r>
            <a:r>
              <a:rPr lang="en-US" altLang="ru-RU" sz="3200" dirty="0"/>
              <a:t> </a:t>
            </a:r>
            <a:r>
              <a:rPr lang="en-US" altLang="en-US" sz="3200" dirty="0"/>
              <a:t>нужна</a:t>
            </a:r>
            <a:r>
              <a:rPr lang="en-US" altLang="ru-RU" sz="3200" dirty="0"/>
              <a:t> </a:t>
            </a:r>
            <a:r>
              <a:rPr lang="en-US" altLang="en-US" sz="3200" dirty="0"/>
              <a:t>интуитивно</a:t>
            </a:r>
            <a:r>
              <a:rPr lang="en-US" altLang="ru-RU" sz="3200" dirty="0"/>
              <a:t> </a:t>
            </a:r>
            <a:r>
              <a:rPr lang="en-US" altLang="en-US" sz="3200" dirty="0"/>
              <a:t>понятная</a:t>
            </a:r>
            <a:r>
              <a:rPr lang="en-US" altLang="ru-RU" sz="3200" dirty="0"/>
              <a:t> </a:t>
            </a:r>
            <a:r>
              <a:rPr lang="en-US" altLang="en-US" sz="3200" dirty="0"/>
              <a:t>и</a:t>
            </a:r>
            <a:r>
              <a:rPr lang="en-US" altLang="ru-RU" sz="3200" dirty="0"/>
              <a:t> </a:t>
            </a:r>
            <a:r>
              <a:rPr lang="en-US" altLang="en-US" sz="3200" dirty="0"/>
              <a:t>быстро</a:t>
            </a:r>
            <a:r>
              <a:rPr lang="en-US" altLang="ru-RU" sz="3200" dirty="0"/>
              <a:t> </a:t>
            </a:r>
            <a:r>
              <a:rPr lang="en-US" altLang="en-US" sz="3200" dirty="0"/>
              <a:t>внедряемая</a:t>
            </a:r>
            <a:r>
              <a:rPr lang="en-US" altLang="ru-RU" sz="3200" dirty="0"/>
              <a:t> </a:t>
            </a:r>
            <a:r>
              <a:rPr lang="en-US" altLang="en-US" sz="3200" dirty="0"/>
              <a:t>система</a:t>
            </a:r>
            <a:r>
              <a:rPr lang="en-US" altLang="ru-RU" sz="3200" dirty="0"/>
              <a:t>, </a:t>
            </a:r>
            <a:r>
              <a:rPr lang="en-US" altLang="en-US" sz="3200" dirty="0"/>
              <a:t>поддерживающая</a:t>
            </a:r>
            <a:r>
              <a:rPr lang="en-US" altLang="ru-RU" sz="3200" dirty="0"/>
              <a:t> </a:t>
            </a:r>
            <a:r>
              <a:rPr lang="en-US" altLang="en-US" sz="3200" dirty="0"/>
              <a:t>ключевые</a:t>
            </a:r>
            <a:r>
              <a:rPr lang="en-US" altLang="ru-RU" sz="3200" dirty="0"/>
              <a:t> </a:t>
            </a:r>
            <a:r>
              <a:rPr lang="en-US" altLang="en-US" sz="3200" dirty="0"/>
              <a:t>принципы</a:t>
            </a:r>
            <a:r>
              <a:rPr lang="en-US" altLang="ru-RU" sz="3200" dirty="0"/>
              <a:t> Agile </a:t>
            </a:r>
            <a:r>
              <a:rPr lang="en-US" altLang="en-US" sz="3200" dirty="0"/>
              <a:t>и</a:t>
            </a:r>
            <a:r>
              <a:rPr lang="en-US" altLang="ru-RU" sz="3200" dirty="0"/>
              <a:t> Scrum.</a:t>
            </a:r>
            <a:endParaRPr lang="en-US" altLang="ru-RU" sz="3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65405"/>
            <a:ext cx="10515600" cy="1325563"/>
          </a:xfrm>
        </p:spPr>
        <p:txBody>
          <a:bodyPr>
            <a:normAutofit/>
          </a:bodyPr>
          <a:lstStyle/>
          <a:p>
            <a:r>
              <a:rPr lang="ru-RU" sz="5400" b="1" dirty="0"/>
              <a:t>Решение</a:t>
            </a:r>
            <a:endParaRPr lang="ru-RU" sz="60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8035" y="1308051"/>
            <a:ext cx="10515600" cy="3272839"/>
          </a:xfrm>
        </p:spPr>
        <p:txBody>
          <a:bodyPr>
            <a:noAutofit/>
          </a:bodyPr>
          <a:lstStyle/>
          <a:p>
            <a:r>
              <a:rPr lang="en-US" altLang="en-US" dirty="0"/>
              <a:t>Разработка</a:t>
            </a:r>
            <a:r>
              <a:rPr lang="en-US" altLang="ru-RU" dirty="0"/>
              <a:t> </a:t>
            </a:r>
            <a:r>
              <a:rPr lang="en-US" altLang="en-US" dirty="0"/>
              <a:t>собственной</a:t>
            </a:r>
            <a:r>
              <a:rPr lang="en-US" altLang="ru-RU" dirty="0"/>
              <a:t> </a:t>
            </a:r>
            <a:r>
              <a:rPr lang="en-US" altLang="en-US" dirty="0"/>
              <a:t>системы</a:t>
            </a:r>
            <a:r>
              <a:rPr lang="en-US" altLang="ru-RU" dirty="0"/>
              <a:t> </a:t>
            </a:r>
            <a:r>
              <a:rPr lang="en-US" altLang="en-US" dirty="0"/>
              <a:t>управления</a:t>
            </a:r>
            <a:r>
              <a:rPr lang="en-US" altLang="ru-RU" dirty="0"/>
              <a:t> </a:t>
            </a:r>
            <a:r>
              <a:rPr lang="en-US" altLang="en-US" dirty="0"/>
              <a:t>проектами</a:t>
            </a:r>
            <a:r>
              <a:rPr lang="en-US" altLang="ru-RU" dirty="0"/>
              <a:t>, </a:t>
            </a:r>
            <a:r>
              <a:rPr lang="en-US" altLang="en-US" dirty="0"/>
              <a:t>основанной</a:t>
            </a:r>
            <a:r>
              <a:rPr lang="en-US" altLang="ru-RU" dirty="0"/>
              <a:t> </a:t>
            </a:r>
            <a:r>
              <a:rPr lang="en-US" altLang="en-US" dirty="0"/>
              <a:t>на</a:t>
            </a:r>
            <a:r>
              <a:rPr lang="en-US" altLang="ru-RU" dirty="0"/>
              <a:t> </a:t>
            </a:r>
            <a:r>
              <a:rPr lang="en-US" altLang="en-US" dirty="0"/>
              <a:t>методологиях</a:t>
            </a:r>
            <a:r>
              <a:rPr lang="en-US" altLang="ru-RU" dirty="0"/>
              <a:t> Agile </a:t>
            </a:r>
            <a:r>
              <a:rPr lang="en-US" altLang="en-US" dirty="0"/>
              <a:t>и</a:t>
            </a:r>
            <a:r>
              <a:rPr lang="en-US" altLang="ru-RU" dirty="0"/>
              <a:t> Scrum, </a:t>
            </a:r>
            <a:r>
              <a:rPr lang="en-US" altLang="en-US" dirty="0"/>
              <a:t>которая</a:t>
            </a:r>
            <a:r>
              <a:rPr lang="en-US" altLang="ru-RU" dirty="0"/>
              <a:t> </a:t>
            </a:r>
            <a:r>
              <a:rPr lang="en-US" altLang="en-US" dirty="0"/>
              <a:t>сочетает</a:t>
            </a:r>
            <a:r>
              <a:rPr lang="en-US" altLang="ru-RU" dirty="0"/>
              <a:t>:</a:t>
            </a:r>
            <a:endParaRPr lang="en-US" altLang="ru-RU" dirty="0"/>
          </a:p>
          <a:p>
            <a:r>
              <a:rPr lang="en-US" altLang="en-US" dirty="0"/>
              <a:t>Простоту</a:t>
            </a:r>
            <a:r>
              <a:rPr lang="en-US" altLang="ru-RU" dirty="0"/>
              <a:t> </a:t>
            </a:r>
            <a:r>
              <a:rPr lang="en-US" altLang="en-US" dirty="0"/>
              <a:t>интерфейса</a:t>
            </a:r>
            <a:r>
              <a:rPr lang="en-US" altLang="ru-RU" dirty="0"/>
              <a:t> (</a:t>
            </a:r>
            <a:r>
              <a:rPr lang="en-US" altLang="en-US" dirty="0"/>
              <a:t>как</a:t>
            </a:r>
            <a:r>
              <a:rPr lang="en-US" altLang="ru-RU" dirty="0"/>
              <a:t> </a:t>
            </a:r>
            <a:r>
              <a:rPr lang="en-US" altLang="en-US" dirty="0"/>
              <a:t>у</a:t>
            </a:r>
            <a:r>
              <a:rPr lang="en-US" altLang="ru-RU" dirty="0"/>
              <a:t> Trello),</a:t>
            </a:r>
            <a:endParaRPr lang="en-US" altLang="ru-RU" dirty="0"/>
          </a:p>
          <a:p>
            <a:r>
              <a:rPr lang="en-US" altLang="en-US" dirty="0"/>
              <a:t>Гибкость</a:t>
            </a:r>
            <a:r>
              <a:rPr lang="en-US" altLang="ru-RU" dirty="0"/>
              <a:t> </a:t>
            </a:r>
            <a:r>
              <a:rPr lang="en-US" altLang="en-US" dirty="0"/>
              <a:t>настройки</a:t>
            </a:r>
            <a:r>
              <a:rPr lang="en-US" altLang="ru-RU" dirty="0"/>
              <a:t> </a:t>
            </a:r>
            <a:r>
              <a:rPr lang="en-US" altLang="en-US" dirty="0"/>
              <a:t>процессов</a:t>
            </a:r>
            <a:r>
              <a:rPr lang="en-US" altLang="ru-RU" dirty="0"/>
              <a:t> (</a:t>
            </a:r>
            <a:r>
              <a:rPr lang="en-US" altLang="en-US" dirty="0"/>
              <a:t>как</a:t>
            </a:r>
            <a:r>
              <a:rPr lang="en-US" altLang="ru-RU" dirty="0"/>
              <a:t> </a:t>
            </a:r>
            <a:r>
              <a:rPr lang="en-US" altLang="en-US" dirty="0"/>
              <a:t>у</a:t>
            </a:r>
            <a:r>
              <a:rPr lang="en-US" altLang="ru-RU" dirty="0"/>
              <a:t> YouTrack),</a:t>
            </a:r>
            <a:endParaRPr lang="en-US" altLang="ru-RU" dirty="0"/>
          </a:p>
          <a:p>
            <a:r>
              <a:rPr lang="en-US" altLang="en-US" dirty="0"/>
              <a:t>Встроенные</a:t>
            </a:r>
            <a:r>
              <a:rPr lang="en-US" altLang="ru-RU" dirty="0"/>
              <a:t> </a:t>
            </a:r>
            <a:r>
              <a:rPr lang="en-US" altLang="en-US" dirty="0"/>
              <a:t>средства</a:t>
            </a:r>
            <a:r>
              <a:rPr lang="en-US" altLang="ru-RU" dirty="0"/>
              <a:t> </a:t>
            </a:r>
            <a:r>
              <a:rPr lang="en-US" altLang="en-US" dirty="0"/>
              <a:t>аналитики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отчётности</a:t>
            </a:r>
            <a:r>
              <a:rPr lang="en-US" altLang="ru-RU" dirty="0"/>
              <a:t> (</a:t>
            </a:r>
            <a:r>
              <a:rPr lang="en-US" altLang="en-US" dirty="0"/>
              <a:t>как</a:t>
            </a:r>
            <a:r>
              <a:rPr lang="en-US" altLang="ru-RU" dirty="0"/>
              <a:t> </a:t>
            </a:r>
            <a:r>
              <a:rPr lang="en-US" altLang="en-US" dirty="0"/>
              <a:t>у</a:t>
            </a:r>
            <a:r>
              <a:rPr lang="en-US" altLang="ru-RU" dirty="0"/>
              <a:t> Jira),</a:t>
            </a:r>
            <a:endParaRPr lang="en-US" altLang="ru-RU" dirty="0"/>
          </a:p>
          <a:p>
            <a:r>
              <a:rPr lang="en-US" altLang="en-US" dirty="0"/>
              <a:t>Поддержку</a:t>
            </a:r>
            <a:r>
              <a:rPr lang="en-US" altLang="ru-RU" dirty="0"/>
              <a:t> </a:t>
            </a:r>
            <a:r>
              <a:rPr lang="en-US" altLang="en-US" dirty="0"/>
              <a:t>ролей</a:t>
            </a:r>
            <a:r>
              <a:rPr lang="en-US" altLang="ru-RU" dirty="0"/>
              <a:t> Scrum, </a:t>
            </a:r>
            <a:r>
              <a:rPr lang="en-US" altLang="en-US" dirty="0"/>
              <a:t>спринтов</a:t>
            </a:r>
            <a:r>
              <a:rPr lang="en-US" altLang="ru-RU" dirty="0"/>
              <a:t>, </a:t>
            </a:r>
            <a:r>
              <a:rPr lang="en-US" altLang="en-US" dirty="0"/>
              <a:t>канбан</a:t>
            </a:r>
            <a:r>
              <a:rPr lang="en-US" altLang="ru-RU" dirty="0"/>
              <a:t>-</a:t>
            </a:r>
            <a:r>
              <a:rPr lang="en-US" altLang="en-US" dirty="0"/>
              <a:t>доски</a:t>
            </a:r>
            <a:r>
              <a:rPr lang="en-US" altLang="ru-RU" dirty="0"/>
              <a:t>, </a:t>
            </a:r>
            <a:r>
              <a:rPr lang="en-US" altLang="en-US" dirty="0"/>
              <a:t>а</a:t>
            </a:r>
            <a:r>
              <a:rPr lang="en-US" altLang="ru-RU" dirty="0"/>
              <a:t> </a:t>
            </a:r>
            <a:r>
              <a:rPr lang="en-US" altLang="en-US" dirty="0"/>
              <a:t>также</a:t>
            </a:r>
            <a:r>
              <a:rPr lang="en-US" altLang="ru-RU" dirty="0"/>
              <a:t> </a:t>
            </a:r>
            <a:r>
              <a:rPr lang="en-US" altLang="en-US" dirty="0"/>
              <a:t>интерактивного</a:t>
            </a:r>
            <a:r>
              <a:rPr lang="en-US" altLang="ru-RU" dirty="0"/>
              <a:t> </a:t>
            </a:r>
            <a:r>
              <a:rPr lang="en-US" altLang="en-US" dirty="0"/>
              <a:t>взаимодействия</a:t>
            </a:r>
            <a:r>
              <a:rPr lang="en-US" altLang="ru-RU" dirty="0"/>
              <a:t> </a:t>
            </a:r>
            <a:r>
              <a:rPr lang="en-US" altLang="en-US" dirty="0"/>
              <a:t>через</a:t>
            </a:r>
            <a:r>
              <a:rPr lang="en-US" altLang="ru-RU" dirty="0"/>
              <a:t> </a:t>
            </a:r>
            <a:r>
              <a:rPr lang="en-US" altLang="en-US" dirty="0"/>
              <a:t>современные</a:t>
            </a:r>
            <a:r>
              <a:rPr lang="en-US" altLang="ru-RU" dirty="0"/>
              <a:t> </a:t>
            </a:r>
            <a:r>
              <a:rPr lang="en-US" altLang="en-US" dirty="0"/>
              <a:t>веб</a:t>
            </a:r>
            <a:r>
              <a:rPr lang="en-US" altLang="ru-RU" dirty="0"/>
              <a:t>-</a:t>
            </a:r>
            <a:r>
              <a:rPr lang="en-US" altLang="en-US" dirty="0"/>
              <a:t>технологии</a:t>
            </a:r>
            <a:r>
              <a:rPr lang="en-US" altLang="ru-RU" dirty="0"/>
              <a:t> (Vue.js, ASP.NET Core, PostgreSQL),</a:t>
            </a:r>
            <a:endParaRPr lang="en-US" altLang="ru-RU" dirty="0"/>
          </a:p>
          <a:p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возможность</a:t>
            </a:r>
            <a:r>
              <a:rPr lang="en-US" altLang="ru-RU" dirty="0"/>
              <a:t> </a:t>
            </a:r>
            <a:r>
              <a:rPr lang="en-US" altLang="en-US" dirty="0"/>
              <a:t>быстрого</a:t>
            </a:r>
            <a:r>
              <a:rPr lang="en-US" altLang="ru-RU" dirty="0"/>
              <a:t> </a:t>
            </a:r>
            <a:r>
              <a:rPr lang="en-US" altLang="en-US" dirty="0"/>
              <a:t>внедрения</a:t>
            </a:r>
            <a:r>
              <a:rPr lang="en-US" altLang="ru-RU" dirty="0"/>
              <a:t> </a:t>
            </a:r>
            <a:r>
              <a:rPr lang="en-US" altLang="en-US" dirty="0"/>
              <a:t>и</a:t>
            </a:r>
            <a:r>
              <a:rPr lang="en-US" altLang="ru-RU" dirty="0"/>
              <a:t> </a:t>
            </a:r>
            <a:r>
              <a:rPr lang="en-US" altLang="en-US" dirty="0"/>
              <a:t>масштабирования</a:t>
            </a:r>
            <a:r>
              <a:rPr lang="en-US" altLang="ru-RU" dirty="0"/>
              <a:t> </a:t>
            </a:r>
            <a:r>
              <a:rPr lang="en-US" altLang="en-US" dirty="0"/>
              <a:t>без</a:t>
            </a:r>
            <a:r>
              <a:rPr lang="en-US" altLang="ru-RU" dirty="0"/>
              <a:t> </a:t>
            </a:r>
            <a:r>
              <a:rPr lang="en-US" altLang="en-US" dirty="0"/>
              <a:t>необходимости</a:t>
            </a:r>
            <a:r>
              <a:rPr lang="en-US" altLang="ru-RU" dirty="0"/>
              <a:t> </a:t>
            </a:r>
            <a:r>
              <a:rPr lang="en-US" altLang="en-US" dirty="0"/>
              <a:t>в</a:t>
            </a:r>
            <a:r>
              <a:rPr lang="en-US" altLang="ru-RU" dirty="0"/>
              <a:t> </a:t>
            </a:r>
            <a:r>
              <a:rPr lang="en-US" altLang="en-US" dirty="0"/>
              <a:t>сложной</a:t>
            </a:r>
            <a:r>
              <a:rPr lang="en-US" altLang="ru-RU" dirty="0"/>
              <a:t> </a:t>
            </a:r>
            <a:r>
              <a:rPr lang="en-US" altLang="en-US" dirty="0"/>
              <a:t>настройке</a:t>
            </a:r>
            <a:r>
              <a:rPr lang="en-US" altLang="ru-RU" dirty="0"/>
              <a:t> </a:t>
            </a:r>
            <a:r>
              <a:rPr lang="en-US" altLang="en-US" dirty="0"/>
              <a:t>или</a:t>
            </a:r>
            <a:r>
              <a:rPr lang="en-US" altLang="ru-RU" dirty="0"/>
              <a:t> </a:t>
            </a:r>
            <a:r>
              <a:rPr lang="en-US" altLang="en-US" dirty="0"/>
              <a:t>сторонних</a:t>
            </a:r>
            <a:r>
              <a:rPr lang="en-US" altLang="ru-RU" dirty="0"/>
              <a:t> </a:t>
            </a:r>
            <a:r>
              <a:rPr lang="en-US" altLang="en-US" dirty="0"/>
              <a:t>плагинах</a:t>
            </a:r>
            <a:r>
              <a:rPr lang="en-US" altLang="ru-RU" dirty="0"/>
              <a:t>.</a:t>
            </a:r>
            <a:endParaRPr lang="en-US" alt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 b="1"/>
              <a:t>Преимущества</a:t>
            </a:r>
            <a:endParaRPr lang="ru-RU" altLang="en-US" b="1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/>
              <a:t>Технические</a:t>
            </a:r>
            <a:r>
              <a:rPr lang="en-US" altLang="ru-RU" b="1"/>
              <a:t> </a:t>
            </a:r>
            <a:r>
              <a:rPr lang="en-US" altLang="en-US" b="1"/>
              <a:t>преимущества</a:t>
            </a:r>
            <a:endParaRPr lang="en-US" altLang="en-US" b="1"/>
          </a:p>
          <a:p>
            <a:r>
              <a:rPr lang="en-US" altLang="en-US" b="1"/>
              <a:t>Современный</a:t>
            </a:r>
            <a:r>
              <a:rPr lang="en-US" altLang="ru-RU" b="1"/>
              <a:t> </a:t>
            </a:r>
            <a:r>
              <a:rPr lang="en-US" altLang="en-US" b="1"/>
              <a:t>стек</a:t>
            </a:r>
            <a:r>
              <a:rPr lang="en-US" altLang="ru-RU" b="1"/>
              <a:t> </a:t>
            </a:r>
            <a:r>
              <a:rPr lang="en-US" altLang="en-US" b="1"/>
              <a:t>технологий</a:t>
            </a:r>
            <a:endParaRPr lang="en-US" altLang="en-US" b="1"/>
          </a:p>
          <a:p>
            <a:r>
              <a:rPr lang="en-US" altLang="en-US" b="1"/>
              <a:t>Архитектурные</a:t>
            </a:r>
            <a:r>
              <a:rPr lang="en-US" altLang="ru-RU" b="1"/>
              <a:t> </a:t>
            </a:r>
            <a:r>
              <a:rPr lang="en-US" altLang="en-US" b="1"/>
              <a:t>решения</a:t>
            </a:r>
            <a:endParaRPr lang="en-US" altLang="en-US" b="1"/>
          </a:p>
          <a:p>
            <a:pPr marL="0" indent="0">
              <a:buNone/>
            </a:pPr>
            <a:r>
              <a:rPr lang="en-US" altLang="en-US" b="1"/>
              <a:t>Функциональные</a:t>
            </a:r>
            <a:r>
              <a:rPr lang="en-US" altLang="ru-RU" b="1"/>
              <a:t> </a:t>
            </a:r>
            <a:r>
              <a:rPr lang="en-US" altLang="en-US" b="1"/>
              <a:t>преимущества</a:t>
            </a:r>
            <a:r>
              <a:rPr lang="en-US" altLang="ru-RU" b="1"/>
              <a:t>:</a:t>
            </a:r>
            <a:endParaRPr lang="en-US" altLang="ru-RU" b="1"/>
          </a:p>
          <a:p>
            <a:pPr algn="l"/>
            <a:r>
              <a:rPr lang="en-US" altLang="en-US" b="1"/>
              <a:t>Управление</a:t>
            </a:r>
            <a:r>
              <a:rPr lang="en-US" altLang="ru-RU" b="1"/>
              <a:t> </a:t>
            </a:r>
            <a:r>
              <a:rPr lang="en-US" altLang="en-US" b="1"/>
              <a:t>проектами</a:t>
            </a:r>
            <a:r>
              <a:rPr lang="en-US" altLang="ru-RU" b="1"/>
              <a:t>:</a:t>
            </a:r>
            <a:endParaRPr lang="en-US" altLang="ru-RU" b="1"/>
          </a:p>
          <a:p>
            <a:pPr algn="l"/>
            <a:r>
              <a:rPr lang="en-US" altLang="en-US" b="1"/>
              <a:t>Управление</a:t>
            </a:r>
            <a:r>
              <a:rPr lang="en-US" altLang="ru-RU" b="1"/>
              <a:t> </a:t>
            </a:r>
            <a:r>
              <a:rPr lang="en-US" altLang="en-US" b="1"/>
              <a:t>спринтами</a:t>
            </a:r>
            <a:r>
              <a:rPr lang="en-US" altLang="ru-RU" b="1"/>
              <a:t>:</a:t>
            </a:r>
            <a:endParaRPr lang="en-US" altLang="ru-RU" b="1"/>
          </a:p>
          <a:p>
            <a:pPr algn="l"/>
            <a:r>
              <a:rPr lang="en-US" altLang="en-US" b="1"/>
              <a:t>Управление</a:t>
            </a:r>
            <a:r>
              <a:rPr lang="en-US" altLang="ru-RU" b="1"/>
              <a:t> </a:t>
            </a:r>
            <a:r>
              <a:rPr lang="en-US" altLang="en-US" b="1"/>
              <a:t>задачами</a:t>
            </a:r>
            <a:r>
              <a:rPr lang="en-US" altLang="ru-RU" b="1"/>
              <a:t>:</a:t>
            </a:r>
            <a:endParaRPr lang="en-US" altLang="ru-RU" b="1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Архитектура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 </a:t>
            </a:r>
            <a:r>
              <a:rPr lang="en-US" altLang="en-US"/>
              <a:t>управления</a:t>
            </a:r>
            <a:r>
              <a:rPr lang="en-US" altLang="ru-RU"/>
              <a:t> </a:t>
            </a:r>
            <a:r>
              <a:rPr lang="en-US" altLang="en-US"/>
              <a:t>проектами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Архитектура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endParaRPr lang="en-US" altLang="en-US"/>
          </a:p>
          <a:p>
            <a:endParaRPr lang="en-US" altLang="ru-RU"/>
          </a:p>
          <a:p>
            <a:r>
              <a:rPr lang="en-US" altLang="ru-RU"/>
              <a:t>Frontend (SPA)</a:t>
            </a:r>
            <a:endParaRPr lang="en-US" altLang="ru-RU"/>
          </a:p>
          <a:p>
            <a:endParaRPr lang="en-US" altLang="ru-RU"/>
          </a:p>
          <a:p>
            <a:r>
              <a:rPr lang="en-US" altLang="ru-RU"/>
              <a:t>Backend (Web API)</a:t>
            </a:r>
            <a:endParaRPr lang="en-US" altLang="ru-RU"/>
          </a:p>
          <a:p>
            <a:endParaRPr lang="en-US" altLang="ru-RU"/>
          </a:p>
          <a:p>
            <a:r>
              <a:rPr lang="en-US" altLang="ru-RU"/>
              <a:t>Database</a:t>
            </a:r>
            <a:endParaRPr lang="en-US" altLang="ru-RU"/>
          </a:p>
          <a:p>
            <a:endParaRPr lang="en-US" altLang="ru-RU"/>
          </a:p>
          <a:p>
            <a:r>
              <a:rPr lang="en-US" altLang="ru-RU"/>
              <a:t>Analytics Module</a:t>
            </a:r>
            <a:endParaRPr lang="en-US" altLang="ru-RU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Реализованный</a:t>
            </a:r>
            <a:r>
              <a:rPr lang="en-US" altLang="ru-RU"/>
              <a:t> </a:t>
            </a:r>
            <a:r>
              <a:rPr lang="en-US" altLang="en-US"/>
              <a:t>функционал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Канбан</a:t>
            </a:r>
            <a:r>
              <a:rPr lang="en-US" altLang="ru-RU"/>
              <a:t>-</a:t>
            </a:r>
            <a:r>
              <a:rPr lang="en-US" altLang="en-US"/>
              <a:t>доска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Планирование</a:t>
            </a:r>
            <a:r>
              <a:rPr lang="en-US" altLang="ru-RU"/>
              <a:t> </a:t>
            </a:r>
            <a:r>
              <a:rPr lang="en-US" altLang="en-US"/>
              <a:t>спринтов</a:t>
            </a:r>
            <a:endParaRPr lang="en-US" altLang="en-US"/>
          </a:p>
          <a:p>
            <a:endParaRPr lang="en-US" altLang="ru-RU"/>
          </a:p>
          <a:p>
            <a:r>
              <a:rPr lang="en-US" altLang="ru-RU"/>
              <a:t>Scrum-</a:t>
            </a:r>
            <a:r>
              <a:rPr lang="en-US" altLang="en-US"/>
              <a:t>метрики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Аналитические</a:t>
            </a:r>
            <a:r>
              <a:rPr lang="en-US" altLang="ru-RU"/>
              <a:t> </a:t>
            </a:r>
            <a:r>
              <a:rPr lang="en-US" altLang="en-US"/>
              <a:t>отчёты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Безопасность</a:t>
            </a:r>
            <a:endParaRPr lang="en-US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Дальнейшие</a:t>
            </a:r>
            <a:r>
              <a:rPr lang="en-US" altLang="ru-RU"/>
              <a:t> </a:t>
            </a:r>
            <a:r>
              <a:rPr lang="en-US" altLang="en-US"/>
              <a:t>этапы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:</a:t>
            </a:r>
            <a:endParaRPr lang="en-US" altLang="ru-RU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проведение</a:t>
            </a:r>
            <a:r>
              <a:rPr lang="en-US" altLang="ru-RU"/>
              <a:t> </a:t>
            </a:r>
            <a:r>
              <a:rPr lang="en-US" altLang="en-US"/>
              <a:t>функциональных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аналитических</a:t>
            </a:r>
            <a:r>
              <a:rPr lang="en-US" altLang="ru-RU"/>
              <a:t> </a:t>
            </a:r>
            <a:r>
              <a:rPr lang="en-US" altLang="en-US"/>
              <a:t>тестов</a:t>
            </a:r>
            <a:r>
              <a:rPr lang="en-US" altLang="ru-RU"/>
              <a:t>;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сбор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анализ</a:t>
            </a:r>
            <a:r>
              <a:rPr lang="en-US" altLang="ru-RU"/>
              <a:t> Scrum-</a:t>
            </a:r>
            <a:r>
              <a:rPr lang="en-US" altLang="en-US"/>
              <a:t>метрик</a:t>
            </a:r>
            <a:r>
              <a:rPr lang="en-US" altLang="ru-RU"/>
              <a:t>;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формирование</a:t>
            </a:r>
            <a:r>
              <a:rPr lang="en-US" altLang="ru-RU"/>
              <a:t> </a:t>
            </a:r>
            <a:r>
              <a:rPr lang="en-US" altLang="en-US"/>
              <a:t>выводов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итогов</a:t>
            </a:r>
            <a:r>
              <a:rPr lang="en-US" altLang="ru-RU"/>
              <a:t> </a:t>
            </a:r>
            <a:r>
              <a:rPr lang="en-US" altLang="en-US"/>
              <a:t>по</a:t>
            </a:r>
            <a:r>
              <a:rPr lang="en-US" altLang="ru-RU"/>
              <a:t> </a:t>
            </a:r>
            <a:r>
              <a:rPr lang="en-US" altLang="en-US"/>
              <a:t>эффективности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.</a:t>
            </a:r>
            <a:endParaRPr lang="en-US" altLang="ru-RU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ИТОГИ</a:t>
            </a:r>
            <a:r>
              <a:rPr lang="en-US" altLang="ru-RU"/>
              <a:t> </a:t>
            </a:r>
            <a:r>
              <a:rPr lang="en-US" altLang="en-US"/>
              <a:t>РАБОТЫ</a:t>
            </a:r>
            <a:endParaRPr lang="en-US" altLang="en-US"/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проанализированы</a:t>
            </a:r>
            <a:r>
              <a:rPr lang="en-US" altLang="ru-RU"/>
              <a:t> </a:t>
            </a:r>
            <a:r>
              <a:rPr lang="en-US" altLang="en-US"/>
              <a:t>существующие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 </a:t>
            </a:r>
            <a:r>
              <a:rPr lang="en-US" altLang="en-US"/>
              <a:t>управления</a:t>
            </a:r>
            <a:r>
              <a:rPr lang="en-US" altLang="ru-RU"/>
              <a:t> </a:t>
            </a:r>
            <a:r>
              <a:rPr lang="en-US" altLang="en-US"/>
              <a:t>проектами</a:t>
            </a:r>
            <a:r>
              <a:rPr lang="en-US" altLang="ru-RU"/>
              <a:t>;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разработана</a:t>
            </a:r>
            <a:r>
              <a:rPr lang="en-US" altLang="ru-RU"/>
              <a:t> </a:t>
            </a:r>
            <a:r>
              <a:rPr lang="en-US" altLang="en-US"/>
              <a:t>архитектура</a:t>
            </a:r>
            <a:r>
              <a:rPr lang="en-US" altLang="ru-RU"/>
              <a:t> </a:t>
            </a:r>
            <a:r>
              <a:rPr lang="en-US" altLang="en-US"/>
              <a:t>системы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аналитической</a:t>
            </a:r>
            <a:r>
              <a:rPr lang="en-US" altLang="ru-RU"/>
              <a:t> </a:t>
            </a:r>
            <a:r>
              <a:rPr lang="en-US" altLang="en-US"/>
              <a:t>поддержкой</a:t>
            </a:r>
            <a:r>
              <a:rPr lang="en-US" altLang="ru-RU"/>
              <a:t> Scrum;</a:t>
            </a:r>
            <a:endParaRPr lang="en-US" altLang="ru-RU"/>
          </a:p>
          <a:p>
            <a:endParaRPr lang="en-US" altLang="ru-RU"/>
          </a:p>
          <a:p>
            <a:r>
              <a:rPr lang="en-US" altLang="en-US"/>
              <a:t>реализованы</a:t>
            </a:r>
            <a:r>
              <a:rPr lang="en-US" altLang="ru-RU"/>
              <a:t> </a:t>
            </a:r>
            <a:r>
              <a:rPr lang="en-US" altLang="en-US"/>
              <a:t>основные</a:t>
            </a:r>
            <a:r>
              <a:rPr lang="en-US" altLang="ru-RU"/>
              <a:t> </a:t>
            </a:r>
            <a:r>
              <a:rPr lang="en-US" altLang="en-US"/>
              <a:t>модули</a:t>
            </a:r>
            <a:r>
              <a:rPr lang="en-US" altLang="ru-RU"/>
              <a:t> </a:t>
            </a:r>
            <a:r>
              <a:rPr lang="en-US" altLang="en-US"/>
              <a:t>управления</a:t>
            </a:r>
            <a:r>
              <a:rPr lang="en-US" altLang="ru-RU"/>
              <a:t> </a:t>
            </a:r>
            <a:r>
              <a:rPr lang="en-US" altLang="en-US"/>
              <a:t>проектами</a:t>
            </a:r>
            <a:r>
              <a:rPr lang="en-US" altLang="ru-RU"/>
              <a:t>;</a:t>
            </a:r>
            <a:endParaRPr lang="en-US" altLang="ru-RU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273675"/>
          </a:xfrm>
        </p:spPr>
        <p:txBody>
          <a:bodyPr>
            <a:normAutofit/>
          </a:bodyPr>
          <a:lstStyle/>
          <a:p>
            <a:pPr algn="ctr"/>
            <a:r>
              <a:rPr lang="ru-RU" sz="8000" dirty="0" smtClean="0"/>
              <a:t>Спасибо за внимание!</a:t>
            </a:r>
            <a:endParaRPr lang="ru-RU" sz="8000" dirty="0"/>
          </a:p>
        </p:txBody>
      </p:sp>
      <p:sp>
        <p:nvSpPr>
          <p:cNvPr id="3" name="Номер слайда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ru-RU" altLang="en-US"/>
              <a:t>Приложение </a:t>
            </a:r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97485" y="1397000"/>
            <a:ext cx="11993880" cy="5461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  <p:pic>
        <p:nvPicPr>
          <p:cNvPr id="7" name="Замещающее содержимое 6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234545" cy="63563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ru-RU" altLang="en-US"/>
          </a:p>
        </p:txBody>
      </p:sp>
      <p:pic>
        <p:nvPicPr>
          <p:cNvPr id="5" name="Замещающее содержимое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0" y="0"/>
            <a:ext cx="12186920" cy="6236970"/>
          </a:xfrm>
          <a:prstGeom prst="rect">
            <a:avLst/>
          </a:prstGeom>
        </p:spPr>
      </p:pic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Уголки</Template>
  <TotalTime>0</TotalTime>
  <Words>2301</Words>
  <Application>WPS Presentation</Application>
  <PresentationFormat>Широкоэкранный</PresentationFormat>
  <Paragraphs>102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 Light</vt:lpstr>
      <vt:lpstr>Microsoft YaHei</vt:lpstr>
      <vt:lpstr>Arial Unicode MS</vt:lpstr>
      <vt:lpstr>Тема Office</vt:lpstr>
      <vt:lpstr>PowerPoint 演示文稿</vt:lpstr>
      <vt:lpstr>Системы управления проектами с применением Agile и Scrum</vt:lpstr>
      <vt:lpstr>Проблема</vt:lpstr>
      <vt:lpstr>Решение</vt:lpstr>
      <vt:lpstr>Преимущества</vt:lpstr>
      <vt:lpstr>PowerPoint 演示文稿</vt:lpstr>
      <vt:lpstr>PowerPoint 演示文稿</vt:lpstr>
      <vt:lpstr>PowerPoint 演示文稿</vt:lpstr>
      <vt:lpstr>PowerPoint 演示文稿</vt:lpstr>
      <vt:lpstr>Спасибо за внимание!</vt:lpstr>
      <vt:lpstr>Приложение 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Viktorov Vsevolod</dc:creator>
  <cp:lastModifiedBy>ВЫХУХОЛЬ</cp:lastModifiedBy>
  <cp:revision>33</cp:revision>
  <dcterms:created xsi:type="dcterms:W3CDTF">2024-11-11T07:32:00Z</dcterms:created>
  <dcterms:modified xsi:type="dcterms:W3CDTF">2025-12-15T07:56:42Z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1049-12.2.0.23158</vt:lpwstr>
  </property>
  <property fmtid="{D5CDD505-2E9C-101B-9397-08002B2CF9AE}" pid="3" name="ICV">
    <vt:lpwstr>9852256209454167A5A0DA9C04A24CEE_13</vt:lpwstr>
  </property>
</Properties>
</file>