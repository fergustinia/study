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Jira agile positioning and scrum boards: https://www.atlassian.com/software/jira/features/scrum-boards ; https://www.atlassian.com/agile/scrum
- Trello product positioning and task-management messaging: https://trello.com/ ; https://trello.com/en/use-cases/task-management
- Asana work-management positioning and project/task features: https://asana.com/product ; https://asana.com/features/project-management
- Logo assets used on this slide: https://atlassian.design/foundations/logos ; https://trello.com/about/logo ; https://asana.com/brand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CFF">
              <a:alpha val="80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37960"/>
            <a:ext cx="11201400" cy="9144"/>
          </a:xfrm>
          <a:prstGeom prst="rect">
            <a:avLst/>
          </a:prstGeom>
          <a:solidFill>
            <a:srgbClr val="92A1C6">
              <a:alpha val="40000"/>
            </a:srgbClr>
          </a:solidFill>
          <a:ln w="12700">
            <a:solidFill>
              <a:srgbClr val="92A1C6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SCRUMO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2984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EFF"/>
                </a:solidFill>
              </a:rPr>
              <a:t>Веб‑система управления Scrum‑проектами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AB4D0"/>
                </a:solidFill>
              </a:rPr>
              <a:t>Цель проекта — заменить разрозненные таблицы, чаты и заметки единым рабочим пространством для задач, спринтов и проектов.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1546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8264A"/>
          </a:solidFill>
          <a:ln w="12700">
            <a:solidFill>
              <a:srgbClr val="1826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19125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4FF"/>
                </a:solidFill>
              </a:rPr>
              <a:t>Scrum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315468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162241"/>
          </a:solidFill>
          <a:ln w="12700">
            <a:solidFill>
              <a:srgbClr val="1622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31912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4FF"/>
                </a:solidFill>
              </a:rPr>
              <a:t>Projects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31546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62241"/>
          </a:solidFill>
          <a:ln w="12700">
            <a:solidFill>
              <a:srgbClr val="1622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319125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4FF"/>
                </a:solidFill>
              </a:rPr>
              <a:t>Sprints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77640" y="315468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162241"/>
          </a:solidFill>
          <a:ln w="12700">
            <a:solidFill>
              <a:srgbClr val="1622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31912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4FF"/>
                </a:solidFill>
              </a:rPr>
              <a:t>Tasks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59436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D0"/>
                </a:solidFill>
              </a:rPr>
              <a:t>Дипломный проект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617220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</a:rPr>
              <a:t>Next.js • Prisma • PostgreSQL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594360"/>
            <a:ext cx="5989320" cy="5440680"/>
          </a:xfrm>
          <a:prstGeom prst="roundRect">
            <a:avLst>
              <a:gd name="adj" fmla="val 1345"/>
            </a:avLst>
          </a:prstGeom>
          <a:solidFill>
            <a:srgbClr val="0E1730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pic>
        <p:nvPicPr>
          <p:cNvPr id="16" name="Image 0" descr="/mnt/data/a_3d_rendered_digital_illustration_showcases_a_fut.png">    </p:cNvPr>
          <p:cNvPicPr>
            <a:picLocks noChangeAspect="1"/>
          </p:cNvPicPr>
          <p:nvPr/>
        </p:nvPicPr>
        <p:blipFill>
          <a:blip r:embed="rId1"/>
          <a:srcRect l="13164" r="13164" t="0" b="0"/>
          <a:stretch/>
        </p:blipFill>
        <p:spPr>
          <a:xfrm>
            <a:off x="5641848" y="704088"/>
            <a:ext cx="5769864" cy="522122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778240" y="5349240"/>
            <a:ext cx="2194560" cy="438912"/>
          </a:xfrm>
          <a:prstGeom prst="roundRect">
            <a:avLst>
              <a:gd name="adj" fmla="val 16667"/>
            </a:avLst>
          </a:prstGeom>
          <a:solidFill>
            <a:srgbClr val="0A0F20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97112" y="5477256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BFF"/>
                </a:solidFill>
              </a:rPr>
              <a:t>единая точка управления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Проблема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понадобилась собственная Scrum‑система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490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C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149047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6F8FF"/>
                </a:solidFill>
              </a:rPr>
              <a:t>Контекст проекта распадается между таблицами, мессенджерами и личными заметками.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2670048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22046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834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D0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28346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6F8FF"/>
                </a:solidFill>
              </a:rPr>
              <a:t>Сложно быстро понять состояние спринта: что в работе, что заблокировано и что уже завершено.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31520" y="4014216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" y="4178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C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00200" y="417880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6F8FF"/>
                </a:solidFill>
              </a:rPr>
              <a:t>Для учебной или небольшой команды тяжёлые корпоративные платформы часто избыточны по сложности.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83680" y="1280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D0"/>
                </a:solidFill>
              </a:rPr>
              <a:t>Типичный разрыв инструментов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29400" y="1691640"/>
            <a:ext cx="1508760" cy="512064"/>
          </a:xfrm>
          <a:prstGeom prst="roundRect">
            <a:avLst>
              <a:gd name="adj" fmla="val 10714"/>
            </a:avLst>
          </a:prstGeom>
          <a:solidFill>
            <a:srgbClr val="111A31"/>
          </a:solidFill>
          <a:ln w="12700">
            <a:solidFill>
              <a:srgbClr val="6B7AA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185623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F8FF"/>
                </a:solidFill>
              </a:rPr>
              <a:t>чаты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66760" y="1691640"/>
            <a:ext cx="1508760" cy="512064"/>
          </a:xfrm>
          <a:prstGeom prst="roundRect">
            <a:avLst>
              <a:gd name="adj" fmla="val 10714"/>
            </a:avLst>
          </a:prstGeom>
          <a:solidFill>
            <a:srgbClr val="17254A"/>
          </a:solidFill>
          <a:ln w="12700">
            <a:solidFill>
              <a:srgbClr val="6B7AA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185623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F8FF"/>
                </a:solidFill>
              </a:rPr>
              <a:t>таблицы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104120" y="1691640"/>
            <a:ext cx="1508760" cy="512064"/>
          </a:xfrm>
          <a:prstGeom prst="roundRect">
            <a:avLst>
              <a:gd name="adj" fmla="val 10714"/>
            </a:avLst>
          </a:prstGeom>
          <a:solidFill>
            <a:srgbClr val="111A31"/>
          </a:solidFill>
          <a:ln w="12700">
            <a:solidFill>
              <a:srgbClr val="6B7AA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104120" y="185623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F8FF"/>
                </a:solidFill>
              </a:rPr>
              <a:t>заметки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09560" y="384048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402038"/>
          </a:solidFill>
          <a:ln w="19050">
            <a:solidFill>
              <a:srgbClr val="FF6B6B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39684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0F0"/>
                </a:solidFill>
              </a:rPr>
              <a:t>потеря прозрачности и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0F0"/>
                </a:solidFill>
              </a:rPr>
              <a:t>ручная синхронизация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360920" y="2203704"/>
            <a:ext cx="1280160" cy="1499616"/>
          </a:xfrm>
          <a:prstGeom prst="line">
            <a:avLst/>
          </a:prstGeom>
          <a:noFill/>
          <a:ln w="15240">
            <a:solidFill>
              <a:srgbClr val="7C8CC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98280" y="2203704"/>
            <a:ext cx="-246888" cy="1499616"/>
          </a:xfrm>
          <a:prstGeom prst="line">
            <a:avLst/>
          </a:prstGeom>
          <a:noFill/>
          <a:ln w="15240">
            <a:solidFill>
              <a:srgbClr val="7C8CC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835640" y="2203704"/>
            <a:ext cx="-1645920" cy="1499616"/>
          </a:xfrm>
          <a:prstGeom prst="line">
            <a:avLst/>
          </a:prstGeom>
          <a:noFill/>
          <a:ln w="15240">
            <a:solidFill>
              <a:srgbClr val="7C8CC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06640" y="50749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21B34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63524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6F8FF"/>
                </a:solidFill>
              </a:rPr>
              <a:t>Следствие: выше риск просрочек, дублирования задач и потери общего видения спринта.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Цель и решение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именно предлагает SCRUMO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886200" cy="4526280"/>
          </a:xfrm>
          <a:prstGeom prst="roundRect">
            <a:avLst>
              <a:gd name="adj" fmla="val 1882"/>
            </a:avLst>
          </a:prstGeom>
          <a:solidFill>
            <a:srgbClr val="111A3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72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D0CE"/>
                </a:solidFill>
              </a:rPr>
              <a:t>Цель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6F8FF"/>
                </a:solidFill>
              </a:rPr>
              <a:t>Создать понятную и технологически целостную систему для управления Scrum‑проектом: от авторизации до просмотра проекта, спринтов и задач на реальных данных.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31821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CA8"/>
                </a:solidFill>
              </a:rPr>
              <a:t>Ключевая идея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456432"/>
            <a:ext cx="3246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AAB4D0"/>
                </a:solidFill>
              </a:rPr>
              <a:t>Вместо набора разрозненных инструментов пользователь получает единую веб‑среду, в которой все сущности связаны между собой: проект → спринт → задача → комментарии.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983480" y="141732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48072" y="160020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F"/>
                </a:solidFill>
              </a:rPr>
              <a:t>Прозрачность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48072" y="192938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4D0"/>
                </a:solidFill>
              </a:rPr>
              <a:t>Статусы, спринты и список задач отображаются в одном месте.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8432" y="14173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22046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93024" y="1600200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F"/>
                </a:solidFill>
              </a:rPr>
              <a:t>Реальные данные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93024" y="1929384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4D0"/>
                </a:solidFill>
              </a:rPr>
              <a:t>Prisma + PostgreSQL вместо mock‑слоя и демо‑метрик.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83480" y="324612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48072" y="342900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F"/>
                </a:solidFill>
              </a:rPr>
              <a:t>Понятная навигация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48072" y="375818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4D0"/>
                </a:solidFill>
              </a:rPr>
              <a:t>Dashboard, Projects, Project Details и страницы задач связаны в единый workflow.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28432" y="32461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22046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93024" y="3429000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F"/>
                </a:solidFill>
              </a:rPr>
              <a:t>Фокус на Scrum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93024" y="3758184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4D0"/>
                </a:solidFill>
              </a:rPr>
              <a:t>Проекты, спринты, задачи и планируемое развитие в сторону backlog / board.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06840" y="516636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18264A"/>
          </a:solidFill>
          <a:ln w="12700">
            <a:solidFill>
              <a:srgbClr val="1826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0" y="520293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4FF"/>
                </a:solidFill>
              </a:rPr>
              <a:t>auth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222992" y="516636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8264A"/>
          </a:solidFill>
          <a:ln w="12700">
            <a:solidFill>
              <a:srgbClr val="1826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22992" y="52029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4FF"/>
                </a:solidFill>
              </a:rPr>
              <a:t>dashboard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26680" y="516636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18264A"/>
          </a:solidFill>
          <a:ln w="12700">
            <a:solidFill>
              <a:srgbClr val="1826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520293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4FF"/>
                </a:solidFill>
              </a:rPr>
              <a:t>projects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55080" y="51663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18264A"/>
          </a:solidFill>
          <a:ln w="12700">
            <a:solidFill>
              <a:srgbClr val="1826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52029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4FF"/>
                </a:solidFill>
              </a:rPr>
              <a:t>tasks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Основные задачи проекта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нужно было сделать, чтобы система стала рабочей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084832" y="3182112"/>
            <a:ext cx="1143000" cy="0"/>
          </a:xfrm>
          <a:prstGeom prst="line">
            <a:avLst/>
          </a:prstGeom>
          <a:noFill/>
          <a:ln w="25400">
            <a:solidFill>
              <a:srgbClr val="5F6FA7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297680" y="3182112"/>
            <a:ext cx="1143000" cy="0"/>
          </a:xfrm>
          <a:prstGeom prst="line">
            <a:avLst/>
          </a:prstGeom>
          <a:noFill/>
          <a:ln w="25400">
            <a:solidFill>
              <a:srgbClr val="5F6FA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510528" y="3182112"/>
            <a:ext cx="1143000" cy="0"/>
          </a:xfrm>
          <a:prstGeom prst="line">
            <a:avLst/>
          </a:prstGeom>
          <a:noFill/>
          <a:ln w="25400">
            <a:solidFill>
              <a:srgbClr val="5F6FA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723376" y="3182112"/>
            <a:ext cx="1143000" cy="0"/>
          </a:xfrm>
          <a:prstGeom prst="line">
            <a:avLst/>
          </a:prstGeom>
          <a:noFill/>
          <a:ln w="25400">
            <a:solidFill>
              <a:srgbClr val="5F6FA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07592" y="1508760"/>
            <a:ext cx="493776" cy="493776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7592" y="1673352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" y="235915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8FF"/>
                </a:solidFill>
              </a:rPr>
              <a:t>Анализ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7824" y="2743200"/>
            <a:ext cx="149961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280" dirty="0">
                <a:solidFill>
                  <a:srgbClr val="AAB4D0"/>
                </a:solidFill>
              </a:rPr>
              <a:t>определить проблемы Scrum‑workflow
</a:t>
            </a:r>
            <a:pPr indent="0" marL="0">
              <a:buNone/>
            </a:pPr>
            <a:r>
              <a:rPr lang="en-US" sz="128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280" dirty="0">
                <a:solidFill>
                  <a:srgbClr val="AAB4D0"/>
                </a:solidFill>
              </a:rPr>
              <a:t>собрать требования к сущностям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3520440" y="1508760"/>
            <a:ext cx="493776" cy="493776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673352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44368" y="21488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72384" y="235915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8FF"/>
                </a:solidFill>
              </a:rPr>
              <a:t>Модель данных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90672" y="2743200"/>
            <a:ext cx="149961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280" dirty="0">
                <a:solidFill>
                  <a:srgbClr val="AAB4D0"/>
                </a:solidFill>
              </a:rPr>
              <a:t>спроектировать User / Project / Sprint / Task / Comment
</a:t>
            </a:r>
            <a:pPr indent="0" marL="0">
              <a:buNone/>
            </a:pPr>
            <a:r>
              <a:rPr lang="en-US" sz="128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280" dirty="0">
                <a:solidFill>
                  <a:srgbClr val="AAB4D0"/>
                </a:solidFill>
              </a:rPr>
              <a:t>определить связи и enum‑типы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5733288" y="1508760"/>
            <a:ext cx="493776" cy="493776"/>
          </a:xfrm>
          <a:prstGeom prst="ellipse">
            <a:avLst/>
          </a:prstGeom>
          <a:solidFill>
            <a:srgbClr val="26D0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33288" y="1673352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57216" y="21488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122046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85232" y="235915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8FF"/>
                </a:solidFill>
              </a:rPr>
              <a:t>Инфраструктура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2743200"/>
            <a:ext cx="149961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280" dirty="0">
                <a:solidFill>
                  <a:srgbClr val="AAB4D0"/>
                </a:solidFill>
              </a:rPr>
              <a:t>настроить Prisma + PostgreSQL
</a:t>
            </a:r>
            <a:pPr indent="0" marL="0">
              <a:buNone/>
            </a:pPr>
            <a:r>
              <a:rPr lang="en-US" sz="128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280" dirty="0">
                <a:solidFill>
                  <a:srgbClr val="AAB4D0"/>
                </a:solidFill>
              </a:rPr>
              <a:t>реализовать auth и защищённый main layout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7946136" y="1508760"/>
            <a:ext cx="493776" cy="493776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46136" y="1673352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70064" y="21488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0" y="235915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8FF"/>
                </a:solidFill>
              </a:rPr>
              <a:t>Интерфейс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16368" y="2743200"/>
            <a:ext cx="149961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280" dirty="0">
                <a:solidFill>
                  <a:srgbClr val="AAB4D0"/>
                </a:solidFill>
              </a:rPr>
              <a:t>собрать Dashboard и Projects
</a:t>
            </a:r>
            <a:pPr indent="0" marL="0">
              <a:buNone/>
            </a:pPr>
            <a:r>
              <a:rPr lang="en-US" sz="128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280" dirty="0">
                <a:solidFill>
                  <a:srgbClr val="AAB4D0"/>
                </a:solidFill>
              </a:rPr>
              <a:t>добавить страницу проекта и задачи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10158984" y="1508760"/>
            <a:ext cx="493776" cy="493776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58984" y="1673352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582912" y="21488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710928" y="235915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8FF"/>
                </a:solidFill>
              </a:rPr>
              <a:t>Проверка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29216" y="2743200"/>
            <a:ext cx="149961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280" dirty="0">
                <a:solidFill>
                  <a:srgbClr val="AAB4D0"/>
                </a:solidFill>
              </a:rPr>
              <a:t>протестировать сценарии CRUD
</a:t>
            </a:r>
            <a:pPr indent="0" marL="0">
              <a:buNone/>
            </a:pPr>
            <a:r>
              <a:rPr lang="en-US" sz="128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280" dirty="0">
                <a:solidFill>
                  <a:srgbClr val="AAB4D0"/>
                </a:solidFill>
              </a:rPr>
              <a:t>подготовить почву для board и sprint flow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868680" y="5074920"/>
            <a:ext cx="10469880" cy="640080"/>
          </a:xfrm>
          <a:prstGeom prst="roundRect">
            <a:avLst>
              <a:gd name="adj" fmla="val 11429"/>
            </a:avLst>
          </a:prstGeom>
          <a:solidFill>
            <a:srgbClr val="131C35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051560" y="5294376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8FF"/>
                </a:solidFill>
              </a:rPr>
              <a:t>Результат: система вышла за рамки макета — ключевые экраны уже работают на реальной базе данных.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Аналоги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 какими решениями можно сравнить SCRUMO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" y="1325880"/>
            <a:ext cx="2788920" cy="4480560"/>
          </a:xfrm>
          <a:prstGeom prst="roundRect">
            <a:avLst>
              <a:gd name="adj" fmla="val 2623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536192"/>
            <a:ext cx="2459736" cy="1051560"/>
          </a:xfrm>
          <a:prstGeom prst="roundRect">
            <a:avLst>
              <a:gd name="adj" fmla="val 5217"/>
            </a:avLst>
          </a:prstGeom>
          <a:solidFill>
            <a:srgbClr val="0B10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6" name="Image 0" descr="/mnt/data/ji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668" y="1700784"/>
            <a:ext cx="12192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52928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F"/>
                </a:solidFill>
              </a:rPr>
              <a:t>Jira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50976" y="3246120"/>
            <a:ext cx="237744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7CC3FF"/>
                </a:solidFill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AAB4D0"/>
                </a:solidFill>
              </a:rPr>
              <a:t>сильный акцент на agile и scrum‑boards
</a:t>
            </a:r>
            <a:pPr indent="0" marL="0">
              <a:buNone/>
            </a:pPr>
            <a:r>
              <a:rPr lang="en-US" sz="1350" b="1" dirty="0">
                <a:solidFill>
                  <a:srgbClr val="7CC3FF"/>
                </a:solidFill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AAB4D0"/>
                </a:solidFill>
              </a:rPr>
              <a:t>богатая экосистема и отчётность
</a:t>
            </a:r>
            <a:pPr indent="0" marL="0">
              <a:buNone/>
            </a:pPr>
            <a:r>
              <a:rPr lang="en-US" sz="1350" b="1" dirty="0">
                <a:solidFill>
                  <a:srgbClr val="7CC3FF"/>
                </a:solidFill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AAB4D0"/>
                </a:solidFill>
              </a:rPr>
              <a:t>но высокая сложность для небольших команд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087368" y="1325880"/>
            <a:ext cx="2788920" cy="4480560"/>
          </a:xfrm>
          <a:prstGeom prst="roundRect">
            <a:avLst>
              <a:gd name="adj" fmla="val 2623"/>
            </a:avLst>
          </a:prstGeom>
          <a:solidFill>
            <a:srgbClr val="122046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1960" y="1536192"/>
            <a:ext cx="2459736" cy="1051560"/>
          </a:xfrm>
          <a:prstGeom prst="roundRect">
            <a:avLst>
              <a:gd name="adj" fmla="val 5217"/>
            </a:avLst>
          </a:prstGeom>
          <a:solidFill>
            <a:srgbClr val="F5F8FF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1" name="Image 1" descr="/mnt/data/trell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716277"/>
            <a:ext cx="2130552" cy="654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1960" y="2852928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F"/>
                </a:solidFill>
              </a:rPr>
              <a:t>Trello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288536" y="3246120"/>
            <a:ext cx="237744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AAB4D0"/>
                </a:solidFill>
              </a:rPr>
              <a:t>очень простой визуальный board‑подход
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AAB4D0"/>
                </a:solidFill>
              </a:rPr>
              <a:t>быстрый старт для задач и карточек
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AAB4D0"/>
                </a:solidFill>
              </a:rPr>
              <a:t>но слабее про глубокий sprint workflow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424928" y="1325880"/>
            <a:ext cx="2788920" cy="4480560"/>
          </a:xfrm>
          <a:prstGeom prst="roundRect">
            <a:avLst>
              <a:gd name="adj" fmla="val 2623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89520" y="1536192"/>
            <a:ext cx="2459736" cy="1051560"/>
          </a:xfrm>
          <a:prstGeom prst="roundRect">
            <a:avLst>
              <a:gd name="adj" fmla="val 5217"/>
            </a:avLst>
          </a:prstGeom>
          <a:solidFill>
            <a:srgbClr val="0B10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6" name="Image 2" descr="/mnt/data/asa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144" y="1700784"/>
            <a:ext cx="958487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89520" y="2852928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F"/>
                </a:solidFill>
              </a:rPr>
              <a:t>Asana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7626096" y="3246120"/>
            <a:ext cx="237744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8D8D"/>
                </a:solidFill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AAB4D0"/>
                </a:solidFill>
              </a:rPr>
              <a:t>широкая work‑management платформа
</a:t>
            </a:r>
            <a:pPr indent="0" marL="0">
              <a:buNone/>
            </a:pPr>
            <a:r>
              <a:rPr lang="en-US" sz="1350" b="1" dirty="0">
                <a:solidFill>
                  <a:srgbClr val="FF8D8D"/>
                </a:solidFill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AAB4D0"/>
                </a:solidFill>
              </a:rPr>
              <a:t>подходит для разных типов команд
</a:t>
            </a:r>
            <a:pPr indent="0" marL="0">
              <a:buNone/>
            </a:pPr>
            <a:r>
              <a:rPr lang="en-US" sz="1350" b="1" dirty="0">
                <a:solidFill>
                  <a:srgbClr val="FF8D8D"/>
                </a:solidFill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AAB4D0"/>
                </a:solidFill>
              </a:rPr>
              <a:t>но не сфокусирована только на Scrum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68680" y="5989320"/>
            <a:ext cx="10469880" cy="438912"/>
          </a:xfrm>
          <a:prstGeom prst="roundRect">
            <a:avLst>
              <a:gd name="adj" fmla="val 16667"/>
            </a:avLst>
          </a:prstGeom>
          <a:solidFill>
            <a:srgbClr val="131C35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1005840" y="6126480"/>
            <a:ext cx="101498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F6F8FF"/>
                </a:solidFill>
              </a:rPr>
              <a:t>Вывод: SCRUMO не пытается заменить все enterprise‑платформы; его ниша — понятное учебно‑практическое Scrum‑решение с собственной архитектурой.</a:t>
            </a:r>
            <a:endParaRPr lang="en-US" sz="13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Кратко об архитектуре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Текущий стек и поток данных в приложении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084832" y="2788920"/>
            <a:ext cx="777240" cy="0"/>
          </a:xfrm>
          <a:prstGeom prst="line">
            <a:avLst/>
          </a:prstGeom>
          <a:noFill/>
          <a:ln w="25400">
            <a:solidFill>
              <a:srgbClr val="7C8CC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187952" y="2788920"/>
            <a:ext cx="777240" cy="0"/>
          </a:xfrm>
          <a:prstGeom prst="line">
            <a:avLst/>
          </a:prstGeom>
          <a:noFill/>
          <a:ln w="25400">
            <a:solidFill>
              <a:srgbClr val="7C8CC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336792" y="2788920"/>
            <a:ext cx="777240" cy="0"/>
          </a:xfrm>
          <a:prstGeom prst="line">
            <a:avLst/>
          </a:prstGeom>
          <a:noFill/>
          <a:ln w="25400">
            <a:solidFill>
              <a:srgbClr val="7C8C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485632" y="2788920"/>
            <a:ext cx="777240" cy="0"/>
          </a:xfrm>
          <a:prstGeom prst="line">
            <a:avLst/>
          </a:prstGeom>
          <a:noFill/>
          <a:ln w="25400">
            <a:solidFill>
              <a:srgbClr val="7C8CC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" y="219456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3591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A8"/>
                </a:solidFill>
              </a:rPr>
              <a:t>UI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63347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8FF"/>
                </a:solidFill>
              </a:rPr>
              <a:t>Next.js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6F8FF"/>
                </a:solidFill>
              </a:rPr>
              <a:t>App Router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26080" y="219456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63240" y="23591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A8"/>
                </a:solidFill>
              </a:rPr>
              <a:t>Логика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63240" y="263347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8FF"/>
                </a:solidFill>
              </a:rPr>
              <a:t>Server Actions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6F8FF"/>
                </a:solidFill>
              </a:rPr>
              <a:t>+ protected routes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74920" y="219456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23591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A8"/>
                </a:solidFill>
              </a:rPr>
              <a:t>Auth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63347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8FF"/>
                </a:solidFill>
              </a:rPr>
              <a:t>Credentials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6F8FF"/>
                </a:solidFill>
              </a:rPr>
              <a:t>+ bcryptjs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23760" y="219456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13264B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60920" y="23591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A8"/>
                </a:solidFill>
              </a:rPr>
              <a:t>ORM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60920" y="263347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8FF"/>
                </a:solidFill>
              </a:rPr>
              <a:t>Prisma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72600" y="219456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09760" y="23591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D0CE"/>
                </a:solidFill>
              </a:rPr>
              <a:t>DB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09760" y="263347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8FF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406908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111A3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4279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D0CE"/>
                </a:solidFill>
              </a:rPr>
              <a:t>Почему такая архитектура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97280" y="4553712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6F8FF"/>
                </a:solidFill>
              </a:rPr>
              <a:t>один стек для UI и серверной логики
</a:t>
            </a:r>
            <a:pPr indent="0" marL="0">
              <a:buNone/>
            </a:pPr>
            <a:r>
              <a:rPr lang="en-US" sz="140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6F8FF"/>
                </a:solidFill>
              </a:rPr>
              <a:t>прямая работа с БД без mock‑слоя
</a:t>
            </a:r>
            <a:pPr indent="0" marL="0">
              <a:buNone/>
            </a:pPr>
            <a:r>
              <a:rPr lang="en-US" sz="140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6F8FF"/>
                </a:solidFill>
              </a:rPr>
              <a:t>простая масштабируемость по модулям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80560" y="406908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111A3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4279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CA8"/>
                </a:solidFill>
              </a:rPr>
              <a:t>Уже реализовано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63440" y="4553712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6F8FF"/>
                </a:solidFill>
              </a:rPr>
              <a:t>auth на реальной БД
</a:t>
            </a:r>
            <a:pPr indent="0" marL="0">
              <a:buNone/>
            </a:pPr>
            <a:r>
              <a:rPr lang="en-US" sz="140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6F8FF"/>
                </a:solidFill>
              </a:rPr>
              <a:t>Dashboard и Projects на Prisma
</a:t>
            </a:r>
            <a:pPr indent="0" marL="0">
              <a:buNone/>
            </a:pPr>
            <a:r>
              <a:rPr lang="en-US" sz="140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6F8FF"/>
                </a:solidFill>
              </a:rPr>
              <a:t>Project Details и Tasks pages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406908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111A3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0" y="427939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5CFF"/>
                </a:solidFill>
              </a:rPr>
              <a:t>Технические акценты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0" y="4553712"/>
            <a:ext cx="2697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6F8FF"/>
                </a:solidFill>
              </a:rPr>
              <a:t>zod для валидации форм
</a:t>
            </a:r>
            <a:pPr indent="0" marL="0">
              <a:buNone/>
            </a:pPr>
            <a:r>
              <a:rPr lang="en-US" sz="140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6F8FF"/>
                </a:solidFill>
              </a:rPr>
              <a:t>App Router для маршрутов
</a:t>
            </a:r>
            <a:pPr indent="0" marL="0">
              <a:buNone/>
            </a:pPr>
            <a:r>
              <a:rPr lang="en-US" sz="140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6F8FF"/>
                </a:solidFill>
              </a:rPr>
              <a:t>реальная модель Project / Sprint / Task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Ключевые сущности системы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Упрощённая диаграмма предметной области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487168" y="2240280"/>
            <a:ext cx="1051560" cy="0"/>
          </a:xfrm>
          <a:prstGeom prst="line">
            <a:avLst/>
          </a:prstGeom>
          <a:noFill/>
          <a:ln w="22860">
            <a:solidFill>
              <a:srgbClr val="7B8CC7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572000" y="2578608"/>
            <a:ext cx="0" cy="1078992"/>
          </a:xfrm>
          <a:prstGeom prst="line">
            <a:avLst/>
          </a:prstGeom>
          <a:noFill/>
          <a:ln w="22860">
            <a:solidFill>
              <a:srgbClr val="7B8CC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0" y="4297680"/>
            <a:ext cx="960120" cy="0"/>
          </a:xfrm>
          <a:prstGeom prst="line">
            <a:avLst/>
          </a:prstGeom>
          <a:noFill/>
          <a:ln w="22860">
            <a:solidFill>
              <a:srgbClr val="7B8CC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616952" y="2578608"/>
            <a:ext cx="0" cy="1078992"/>
          </a:xfrm>
          <a:prstGeom prst="line">
            <a:avLst/>
          </a:prstGeom>
          <a:noFill/>
          <a:ln w="22860">
            <a:solidFill>
              <a:srgbClr val="7B8CC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6968" y="1664208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Project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1832" y="1938528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4D0"/>
                </a:solidFill>
              </a:rPr>
              <a:t>id, name, key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B4D0"/>
                </a:solidFill>
              </a:rPr>
              <a:t>description, status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11880" y="155448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21608" y="1664208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Sprint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76472" y="19385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4D0"/>
                </a:solidFill>
              </a:rPr>
              <a:t>goal, status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B4D0"/>
                </a:solidFill>
              </a:rPr>
              <a:t>start / end, capacity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29400" y="155448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39128" y="166420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User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93992" y="1938528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4D0"/>
                </a:solidFill>
              </a:rPr>
              <a:t>name, email, role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B4D0"/>
                </a:solidFill>
              </a:rPr>
              <a:t>avatarUrl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11880" y="379476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13264B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21608" y="3904488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Task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76472" y="417880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4D0"/>
                </a:solidFill>
              </a:rPr>
              <a:t>title, status, priority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B4D0"/>
                </a:solidFill>
              </a:rPr>
              <a:t>storyPoints, deadline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379476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39128" y="390448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Comment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93992" y="4178808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4D0"/>
                </a:solidFill>
              </a:rPr>
              <a:t>content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B4D0"/>
                </a:solidFill>
              </a:rPr>
              <a:t>taskId, authorId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89720" y="169164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111A3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90888" y="1874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D0CE"/>
                </a:solidFill>
              </a:rPr>
              <a:t>Связи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72600" y="2194560"/>
            <a:ext cx="160020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AAB4D0"/>
                </a:solidFill>
              </a:rPr>
              <a:t>Project содержит Sprints и Tasks
</a:t>
            </a:r>
            <a:pPr indent="0" marL="0">
              <a:buNone/>
            </a:pPr>
            <a:r>
              <a:rPr lang="en-US" sz="132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AAB4D0"/>
                </a:solidFill>
              </a:rPr>
              <a:t>Sprint объединяет задачи конкретной итерации
</a:t>
            </a:r>
            <a:pPr indent="0" marL="0">
              <a:buNone/>
            </a:pPr>
            <a:r>
              <a:rPr lang="en-US" sz="132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AAB4D0"/>
                </a:solidFill>
              </a:rPr>
              <a:t>Task привязана к проекту, спринту и исполнителю
</a:t>
            </a:r>
            <a:pPr indent="0" marL="0">
              <a:buNone/>
            </a:pPr>
            <a:r>
              <a:rPr lang="en-US" sz="132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AAB4D0"/>
                </a:solidFill>
              </a:rPr>
              <a:t>Comment хранит обсуждение задачи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уже реализовано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 перешёл от шаблона к рабочему приложению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760720" cy="5029200"/>
          </a:xfrm>
          <a:prstGeom prst="roundRect">
            <a:avLst>
              <a:gd name="adj" fmla="val 1455"/>
            </a:avLst>
          </a:prstGeom>
          <a:solidFill>
            <a:srgbClr val="111A31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5727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F"/>
                </a:solidFill>
              </a:rPr>
              <a:t>Текущий функционал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507492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F6F8FF"/>
                </a:solidFill>
              </a:rPr>
              <a:t>Auth через Credentials работает на реальной БД
</a:t>
            </a:r>
            <a:pPr indent="0" marL="0">
              <a:buNone/>
            </a:pPr>
            <a:r>
              <a:rPr lang="en-US" sz="170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F6F8FF"/>
                </a:solidFill>
              </a:rPr>
              <a:t>Main layout защищён: без сессии доступ закрыт
</a:t>
            </a:r>
            <a:pPr indent="0" marL="0">
              <a:buNone/>
            </a:pPr>
            <a:r>
              <a:rPr lang="en-US" sz="170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F6F8FF"/>
                </a:solidFill>
              </a:rPr>
              <a:t>Projects page читает и создаёт проекты через Prisma
</a:t>
            </a:r>
            <a:pPr indent="0" marL="0">
              <a:buNone/>
            </a:pPr>
            <a:r>
              <a:rPr lang="en-US" sz="170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F6F8FF"/>
                </a:solidFill>
              </a:rPr>
              <a:t>Dashboard показывает реальные агрегаты по задачам и спринтам
</a:t>
            </a:r>
            <a:pPr indent="0" marL="0">
              <a:buNone/>
            </a:pPr>
            <a:r>
              <a:rPr lang="en-US" sz="170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F6F8FF"/>
                </a:solidFill>
              </a:rPr>
              <a:t>Project Details отображает проект, спринты и последние задачи
</a:t>
            </a:r>
            <a:pPr indent="0" marL="0">
              <a:buNone/>
            </a:pPr>
            <a:r>
              <a:rPr lang="en-US" sz="1700" b="1" dirty="0">
                <a:solidFill>
                  <a:srgbClr val="26D0CE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F6F8FF"/>
                </a:solidFill>
              </a:rPr>
              <a:t>Create Task и Project Tasks page уже встроены в workflow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146304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122046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0" y="16276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D0CE"/>
                </a:solidFill>
              </a:rPr>
              <a:t>01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772400" y="16642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8FF"/>
                </a:solidFill>
              </a:rPr>
              <a:t>реальные данные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903720" y="265176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0" y="28163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5CA8"/>
                </a:solidFill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772400" y="28529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8FF"/>
                </a:solidFill>
              </a:rPr>
              <a:t>единый стек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903720" y="384048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4005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5CA8"/>
                </a:solidFill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772400" y="40416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8FF"/>
                </a:solidFill>
              </a:rPr>
              <a:t>маршруты и CRUD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903720" y="502920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51937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5CA8"/>
                </a:solidFill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772400" y="52303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8FF"/>
                </a:solidFill>
              </a:rPr>
              <a:t>основа для board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903720" y="6016752"/>
            <a:ext cx="4526280" cy="384048"/>
          </a:xfrm>
          <a:prstGeom prst="roundRect">
            <a:avLst>
              <a:gd name="adj" fmla="val 19048"/>
            </a:avLst>
          </a:prstGeom>
          <a:solidFill>
            <a:srgbClr val="131C35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78040" y="6108192"/>
            <a:ext cx="39776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F8FF"/>
                </a:solidFill>
              </a:rPr>
              <a:t>Главный технический результат: приложение уже не опирается на mock‑слой.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Практическая ценность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Кому и чем полезен проект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73736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56816" y="2029968"/>
            <a:ext cx="749808" cy="749808"/>
          </a:xfrm>
          <a:prstGeom prst="ellipse">
            <a:avLst/>
          </a:prstGeom>
          <a:solidFill>
            <a:srgbClr val="26D0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56816" y="2276856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3272" y="3063240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F"/>
                </a:solidFill>
              </a:rPr>
              <a:t>Для команды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88136" y="3529584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4D0"/>
                </a:solidFill>
              </a:rPr>
              <a:t>общая картина по задачам, спринтам и текущему состоянию проекта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0" y="173736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122046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02936" y="2029968"/>
            <a:ext cx="749808" cy="749808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02936" y="2276856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79392" y="3063240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F"/>
                </a:solidFill>
              </a:rPr>
              <a:t>Для руководителя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34256" y="3529584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4D0"/>
                </a:solidFill>
              </a:rPr>
              <a:t>быстрый доступ к статусам, прогрессу и структуре проектной работы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60920" y="173736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9056" y="2029968"/>
            <a:ext cx="749808" cy="749808"/>
          </a:xfrm>
          <a:prstGeom prst="ellipse">
            <a:avLst/>
          </a:prstGeom>
          <a:solidFill>
            <a:srgbClr val="FF5C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2276856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25512" y="3063240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F"/>
                </a:solidFill>
              </a:rPr>
              <a:t>Для обучения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80376" y="3529584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4D0"/>
                </a:solidFill>
              </a:rPr>
              <a:t>наглядный пример full-stack приложения с реальной БД и domain-моделью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97280" y="5669280"/>
            <a:ext cx="10012680" cy="566928"/>
          </a:xfrm>
          <a:prstGeom prst="roundRect">
            <a:avLst>
              <a:gd name="adj" fmla="val 12903"/>
            </a:avLst>
          </a:prstGeom>
          <a:solidFill>
            <a:srgbClr val="131C35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25880" y="5861304"/>
            <a:ext cx="9555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6F8FF"/>
                </a:solidFill>
              </a:rPr>
              <a:t>SCRUMO показывает, как учебный проект можно довести до состояния практически применимого продукта.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Дальнейшее развитие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можно делать следующим этапом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97280" y="3108960"/>
            <a:ext cx="9692640" cy="0"/>
          </a:xfrm>
          <a:prstGeom prst="line">
            <a:avLst/>
          </a:prstGeom>
          <a:noFill/>
          <a:ln w="25400">
            <a:solidFill>
              <a:srgbClr val="5F6F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834640"/>
            <a:ext cx="530352" cy="530352"/>
          </a:xfrm>
          <a:prstGeom prst="ellipse">
            <a:avLst/>
          </a:prstGeom>
          <a:solidFill>
            <a:srgbClr val="26D0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002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7830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Edit Task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0848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AB4D0"/>
                </a:solidFill>
              </a:rPr>
              <a:t>полноценное редактирование карточек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362456" y="2560320"/>
            <a:ext cx="0" cy="292608"/>
          </a:xfrm>
          <a:prstGeom prst="line">
            <a:avLst/>
          </a:prstGeom>
          <a:noFill/>
          <a:ln w="15240">
            <a:solidFill>
              <a:srgbClr val="7B8C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5808" y="2834640"/>
            <a:ext cx="530352" cy="530352"/>
          </a:xfrm>
          <a:prstGeom prst="ellipse">
            <a:avLst/>
          </a:prstGeom>
          <a:solidFill>
            <a:srgbClr val="26D0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52928" y="36118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90088" y="37947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Create Sprint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90088" y="40965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AB4D0"/>
                </a:solidFill>
              </a:rPr>
              <a:t>форма создания спринта внутри проекта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00984" y="2834640"/>
            <a:ext cx="0" cy="-685800"/>
          </a:xfrm>
          <a:prstGeom prst="line">
            <a:avLst/>
          </a:prstGeom>
          <a:noFill/>
          <a:ln w="15240">
            <a:solidFill>
              <a:srgbClr val="7B8C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74336" y="2834640"/>
            <a:ext cx="530352" cy="530352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91456" y="16002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28616" y="17830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Board / Backlog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28616" y="20848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AB4D0"/>
                </a:solidFill>
              </a:rPr>
              <a:t>kanban‑представление и drag &amp; drop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239512" y="2560320"/>
            <a:ext cx="0" cy="292608"/>
          </a:xfrm>
          <a:prstGeom prst="line">
            <a:avLst/>
          </a:prstGeom>
          <a:noFill/>
          <a:ln w="15240">
            <a:solidFill>
              <a:srgbClr val="7B8C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2834640"/>
            <a:ext cx="530352" cy="530352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9984" y="36118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67144" y="37947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Comments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67144" y="40965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AB4D0"/>
                </a:solidFill>
              </a:rPr>
              <a:t>обсуждение задач и activity history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178040" y="2834640"/>
            <a:ext cx="0" cy="-685800"/>
          </a:xfrm>
          <a:prstGeom prst="line">
            <a:avLst/>
          </a:prstGeom>
          <a:noFill/>
          <a:ln w="15240">
            <a:solidFill>
              <a:srgbClr val="7B8C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51392" y="2834640"/>
            <a:ext cx="530352" cy="530352"/>
          </a:xfrm>
          <a:prstGeom prst="ellipse">
            <a:avLst/>
          </a:prstGeom>
          <a:solidFill>
            <a:srgbClr val="7C5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68512" y="16002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0182D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805672" y="17830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Analytics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05672" y="20848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AB4D0"/>
                </a:solidFill>
              </a:rPr>
              <a:t>velocity, burndown, прогресс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116568" y="2560320"/>
            <a:ext cx="0" cy="292608"/>
          </a:xfrm>
          <a:prstGeom prst="line">
            <a:avLst/>
          </a:prstGeom>
          <a:noFill/>
          <a:ln w="15240">
            <a:solidFill>
              <a:srgbClr val="7B8C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5577840"/>
            <a:ext cx="10424160" cy="640080"/>
          </a:xfrm>
          <a:prstGeom prst="roundRect">
            <a:avLst>
              <a:gd name="adj" fmla="val 11429"/>
            </a:avLst>
          </a:prstGeom>
          <a:solidFill>
            <a:srgbClr val="131C35"/>
          </a:solidFill>
          <a:ln w="12700">
            <a:solidFill>
              <a:srgbClr val="34456E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" dist="15240" dir="2700000">
              <a:srgbClr val="000000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97280" y="5806440"/>
            <a:ext cx="9966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6F8FF"/>
                </a:solidFill>
              </a:rPr>
              <a:t>Итог: SCRUMO уже имеет рабочее ядро и понятный roadmap роста от учебной системы к полноценному инструменту управления проектами.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3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SCRUMO — система управления Scrum-проектами</dc:title>
  <dc:subject>SCRUMO presentation</dc:subject>
  <dc:creator>OpenAI</dc:creator>
  <cp:lastModifiedBy>OpenAI</cp:lastModifiedBy>
  <cp:revision>1</cp:revision>
  <dcterms:created xsi:type="dcterms:W3CDTF">2026-03-23T04:07:25Z</dcterms:created>
  <dcterms:modified xsi:type="dcterms:W3CDTF">2026-03-23T04:07:25Z</dcterms:modified>
</cp:coreProperties>
</file>