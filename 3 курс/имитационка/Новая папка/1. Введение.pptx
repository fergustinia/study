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Системы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ru-RU" dirty="0"/>
              <a:t>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FB614B-5DB1-4C59-B445-02A71043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52272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Система – некоторый реальный объект, процесс, явление и т.п.</a:t>
            </a:r>
            <a:endParaRPr lang="en-US" sz="2400" dirty="0"/>
          </a:p>
          <a:p>
            <a:r>
              <a:rPr lang="ru-RU" sz="2400" dirty="0"/>
              <a:t>Модель – это точное или приближенное описание (представление) системы</a:t>
            </a:r>
            <a:r>
              <a:rPr lang="en-US" sz="2400" dirty="0"/>
              <a:t>.</a:t>
            </a:r>
          </a:p>
          <a:p>
            <a:r>
              <a:rPr lang="ru-RU" sz="2400" dirty="0"/>
              <a:t>Моделирование это</a:t>
            </a:r>
            <a:r>
              <a:rPr lang="en-US" sz="2400" dirty="0"/>
              <a:t>: </a:t>
            </a:r>
          </a:p>
          <a:p>
            <a:pPr lvl="1"/>
            <a:r>
              <a:rPr lang="ru-RU" sz="2000" dirty="0"/>
              <a:t>Процесс построения модели</a:t>
            </a:r>
            <a:r>
              <a:rPr lang="en-US" sz="2000" dirty="0"/>
              <a:t>;</a:t>
            </a:r>
          </a:p>
          <a:p>
            <a:pPr lvl="1"/>
            <a:r>
              <a:rPr lang="ru-RU" sz="2000" dirty="0"/>
              <a:t>Анализ модели – получение результатов с использованием модели</a:t>
            </a:r>
            <a:r>
              <a:rPr lang="en-US" sz="2000" dirty="0"/>
              <a:t>.</a:t>
            </a:r>
            <a:endParaRPr lang="ru-RU" sz="2000" dirty="0"/>
          </a:p>
        </p:txBody>
      </p:sp>
      <p:pic>
        <p:nvPicPr>
          <p:cNvPr id="1026" name="Picture 2" descr="Как организовать производство или 7 шагов к успеху">
            <a:extLst>
              <a:ext uri="{FF2B5EF4-FFF2-40B4-BE49-F238E27FC236}">
                <a16:creationId xmlns:a16="http://schemas.microsoft.com/office/drawing/2014/main" id="{BA11344D-D23A-00EB-6454-F3F17D350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0"/>
            <a:ext cx="4572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Разбираемся в электрических схемах">
            <a:extLst>
              <a:ext uri="{FF2B5EF4-FFF2-40B4-BE49-F238E27FC236}">
                <a16:creationId xmlns:a16="http://schemas.microsoft.com/office/drawing/2014/main" id="{2E895ED2-7DBB-A6C7-1360-5DBC1D0D4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0" t="9554" r="3211"/>
          <a:stretch>
            <a:fillRect/>
          </a:stretch>
        </p:blipFill>
        <p:spPr bwMode="auto">
          <a:xfrm>
            <a:off x="6410632" y="3163994"/>
            <a:ext cx="5781368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Страшные формулы | Форум RUDTP.RU — дизайн, верстка, препресс, печать">
            <a:extLst>
              <a:ext uri="{FF2B5EF4-FFF2-40B4-BE49-F238E27FC236}">
                <a16:creationId xmlns:a16="http://schemas.microsoft.com/office/drawing/2014/main" id="{EA56B00F-E329-D07D-4148-6C4AFDEB7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715" y="4171066"/>
            <a:ext cx="3346285" cy="18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38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00D7B-0D54-4E06-A4F4-A7A6822F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моделирования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1F594-8C35-42CB-BE52-4D316B52B70C}"/>
              </a:ext>
            </a:extLst>
          </p:cNvPr>
          <p:cNvSpPr txBox="1"/>
          <p:nvPr/>
        </p:nvSpPr>
        <p:spPr>
          <a:xfrm>
            <a:off x="1944940" y="2204979"/>
            <a:ext cx="1744837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2400" dirty="0"/>
              <a:t>Физическое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E0AEA-C658-4AF2-914D-DA6CD32E5745}"/>
              </a:ext>
            </a:extLst>
          </p:cNvPr>
          <p:cNvSpPr txBox="1"/>
          <p:nvPr/>
        </p:nvSpPr>
        <p:spPr>
          <a:xfrm>
            <a:off x="4762736" y="2199359"/>
            <a:ext cx="2384564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2400" dirty="0"/>
              <a:t>Математическое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47FD14-2353-480A-AA81-5E6CF06B5F0A}"/>
              </a:ext>
            </a:extLst>
          </p:cNvPr>
          <p:cNvSpPr txBox="1"/>
          <p:nvPr/>
        </p:nvSpPr>
        <p:spPr>
          <a:xfrm>
            <a:off x="7995094" y="2208857"/>
            <a:ext cx="2155077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2400" dirty="0"/>
              <a:t>Компьютерное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715DC-5E7E-4BC4-B5E4-1561BA99608D}"/>
              </a:ext>
            </a:extLst>
          </p:cNvPr>
          <p:cNvSpPr txBox="1"/>
          <p:nvPr/>
        </p:nvSpPr>
        <p:spPr>
          <a:xfrm>
            <a:off x="3554222" y="3438832"/>
            <a:ext cx="2166427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2400" dirty="0"/>
              <a:t>Аналитическое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3373C8F-22EB-4729-B1B1-F05EBE21AF69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4637436" y="2661024"/>
            <a:ext cx="1317582" cy="77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BF657E-C44F-44D6-B86E-CD1080047F0F}"/>
              </a:ext>
            </a:extLst>
          </p:cNvPr>
          <p:cNvSpPr txBox="1"/>
          <p:nvPr/>
        </p:nvSpPr>
        <p:spPr>
          <a:xfrm>
            <a:off x="5963619" y="3438832"/>
            <a:ext cx="1609736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2400" dirty="0"/>
              <a:t>Численное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2138517-602B-4DCA-810F-7A1E18158B7D}"/>
              </a:ext>
            </a:extLst>
          </p:cNvPr>
          <p:cNvCxnSpPr>
            <a:stCxn id="5" idx="2"/>
            <a:endCxn id="13" idx="0"/>
          </p:cNvCxnSpPr>
          <p:nvPr/>
        </p:nvCxnSpPr>
        <p:spPr>
          <a:xfrm>
            <a:off x="5955018" y="2661024"/>
            <a:ext cx="813469" cy="77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7A55389-B7E2-48E6-AA39-7F00465FA93A}"/>
              </a:ext>
            </a:extLst>
          </p:cNvPr>
          <p:cNvSpPr txBox="1"/>
          <p:nvPr/>
        </p:nvSpPr>
        <p:spPr>
          <a:xfrm>
            <a:off x="8000855" y="3438832"/>
            <a:ext cx="2164375" cy="46166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sz="2400" dirty="0"/>
              <a:t>Имитационное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6048F59-E911-4EE9-B4A9-A54EAC2F1A1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955018" y="2661024"/>
            <a:ext cx="3053509" cy="735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ABB9813C-428A-4A44-A7DC-7751AC680C68}"/>
              </a:ext>
            </a:extLst>
          </p:cNvPr>
          <p:cNvCxnSpPr>
            <a:stCxn id="6" idx="2"/>
            <a:endCxn id="16" idx="0"/>
          </p:cNvCxnSpPr>
          <p:nvPr/>
        </p:nvCxnSpPr>
        <p:spPr>
          <a:xfrm>
            <a:off x="9072633" y="2670522"/>
            <a:ext cx="10410" cy="76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78E65D0-F1A7-4EF4-9118-EA9EA3A2EAB0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>
            <a:off x="7573355" y="3669665"/>
            <a:ext cx="427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B47F6CD4-8E7F-4780-98C4-B85F2D4DBC2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742027" y="3900497"/>
            <a:ext cx="895409" cy="907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D2DEDB3-F2B0-4E43-8571-6CDE0ECDD60D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637436" y="3900497"/>
            <a:ext cx="702415" cy="907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2911B77D-44B9-4A20-BCA2-1968054714C3}"/>
              </a:ext>
            </a:extLst>
          </p:cNvPr>
          <p:cNvCxnSpPr>
            <a:cxnSpLocks/>
          </p:cNvCxnSpPr>
          <p:nvPr/>
        </p:nvCxnSpPr>
        <p:spPr>
          <a:xfrm flipH="1">
            <a:off x="2087553" y="2666644"/>
            <a:ext cx="428568" cy="637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27BA7FC4-8F05-40C5-8EDB-261449FC214C}"/>
              </a:ext>
            </a:extLst>
          </p:cNvPr>
          <p:cNvCxnSpPr>
            <a:cxnSpLocks/>
          </p:cNvCxnSpPr>
          <p:nvPr/>
        </p:nvCxnSpPr>
        <p:spPr>
          <a:xfrm>
            <a:off x="3018990" y="2666644"/>
            <a:ext cx="403525" cy="637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62F43935-1D95-4907-9F24-EFE88B15D58C}"/>
              </a:ext>
            </a:extLst>
          </p:cNvPr>
          <p:cNvCxnSpPr>
            <a:stCxn id="13" idx="2"/>
          </p:cNvCxnSpPr>
          <p:nvPr/>
        </p:nvCxnSpPr>
        <p:spPr>
          <a:xfrm flipH="1">
            <a:off x="6273390" y="3900497"/>
            <a:ext cx="495097" cy="84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DA69C2A-D756-4430-BFA6-14DA928D72A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768487" y="3900497"/>
            <a:ext cx="373023" cy="84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A90A2DC-9D46-42A9-91AA-2793C5B0522F}"/>
              </a:ext>
            </a:extLst>
          </p:cNvPr>
          <p:cNvCxnSpPr>
            <a:stCxn id="16" idx="2"/>
          </p:cNvCxnSpPr>
          <p:nvPr/>
        </p:nvCxnSpPr>
        <p:spPr>
          <a:xfrm flipH="1">
            <a:off x="8306815" y="3900497"/>
            <a:ext cx="776228" cy="84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9EB1F598-FBAE-48A8-993B-09C2C4661ACB}"/>
              </a:ext>
            </a:extLst>
          </p:cNvPr>
          <p:cNvCxnSpPr>
            <a:cxnSpLocks/>
          </p:cNvCxnSpPr>
          <p:nvPr/>
        </p:nvCxnSpPr>
        <p:spPr>
          <a:xfrm>
            <a:off x="9088832" y="3900497"/>
            <a:ext cx="727671" cy="84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Овал 47">
            <a:extLst>
              <a:ext uri="{FF2B5EF4-FFF2-40B4-BE49-F238E27FC236}">
                <a16:creationId xmlns:a16="http://schemas.microsoft.com/office/drawing/2014/main" id="{50EDBBFC-321A-48CA-B170-7D4085773270}"/>
              </a:ext>
            </a:extLst>
          </p:cNvPr>
          <p:cNvSpPr/>
          <p:nvPr/>
        </p:nvSpPr>
        <p:spPr>
          <a:xfrm>
            <a:off x="6412810" y="1533831"/>
            <a:ext cx="4293564" cy="4680155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rgbClr val="C00000"/>
                </a:solidFill>
              </a:rPr>
              <a:t>    </a:t>
            </a:r>
            <a:r>
              <a:rPr lang="ru-RU" sz="11500" dirty="0">
                <a:solidFill>
                  <a:srgbClr val="C00000"/>
                </a:solidFill>
              </a:rPr>
              <a:t> </a:t>
            </a:r>
            <a:r>
              <a:rPr lang="en-US" sz="11500" dirty="0">
                <a:solidFill>
                  <a:srgbClr val="C00000"/>
                </a:solidFill>
              </a:rPr>
              <a:t>!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74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 animBg="1"/>
      <p:bldP spid="16" grpId="0" animBg="1"/>
      <p:bldP spid="4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67326-AF2D-4649-8E8B-70558423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52F799-49A2-48EE-B037-6A0767D42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D82B68-70DC-426D-AC14-3117CBAF1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9063"/>
            <a:ext cx="9481237" cy="581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5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2ADDE-9547-4244-BEEB-88D30A23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DFAD0B-41F8-4E5E-9254-10BDF07B4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EB505B-116E-47CF-B69F-4E8DE272D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306" y="0"/>
            <a:ext cx="6671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6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89EFB-41A0-4EDF-8503-7562AC05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Имитационная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95320-D59A-4931-B7E7-EF2EF0A1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716616"/>
          </a:xfrm>
        </p:spPr>
        <p:txBody>
          <a:bodyPr>
            <a:normAutofit/>
          </a:bodyPr>
          <a:lstStyle/>
          <a:p>
            <a:pPr marL="447675" indent="-361950">
              <a:buFont typeface="Arial" panose="020B0604020202020204" pitchFamily="34" charset="0"/>
              <a:buChar char="•"/>
            </a:pPr>
            <a:r>
              <a:rPr lang="ru-RU" sz="2400" dirty="0"/>
              <a:t>модель алгоритма работы (эволюции) системы</a:t>
            </a:r>
          </a:p>
          <a:p>
            <a:pPr marL="447675" indent="-361950">
              <a:buFont typeface="Arial" panose="020B0604020202020204" pitchFamily="34" charset="0"/>
              <a:buChar char="•"/>
            </a:pPr>
            <a:r>
              <a:rPr lang="ru-RU" sz="2400" dirty="0"/>
              <a:t>численный метод проведения компьютерных экспериментов с математическими моделями, описывающими поведение систем в течение времени.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776D57B-7BD9-6B35-0878-CAF6B828747C}"/>
              </a:ext>
            </a:extLst>
          </p:cNvPr>
          <p:cNvGrpSpPr/>
          <p:nvPr/>
        </p:nvGrpSpPr>
        <p:grpSpPr>
          <a:xfrm>
            <a:off x="323849" y="3470910"/>
            <a:ext cx="5048249" cy="1753501"/>
            <a:chOff x="323849" y="3470910"/>
            <a:chExt cx="5048249" cy="1753501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F5BC69EC-43C4-7E31-BE47-7EC6624C267A}"/>
                </a:ext>
              </a:extLst>
            </p:cNvPr>
            <p:cNvSpPr/>
            <p:nvPr/>
          </p:nvSpPr>
          <p:spPr>
            <a:xfrm>
              <a:off x="323849" y="3470910"/>
              <a:ext cx="1552574" cy="1753501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исходные данные</a:t>
              </a:r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параметры функции </a:t>
              </a:r>
              <a:r>
                <a:rPr lang="en-US" dirty="0">
                  <a:solidFill>
                    <a:schemeClr val="tx1"/>
                  </a:solidFill>
                </a:rPr>
                <a:t>f, </a:t>
              </a:r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значение </a:t>
              </a:r>
              <a:r>
                <a:rPr lang="en-US" dirty="0">
                  <a:solidFill>
                    <a:schemeClr val="tx1"/>
                  </a:solidFill>
                </a:rPr>
                <a:t>t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8C2B0ED-FF37-69F2-1512-4580AFC42029}"/>
                </a:ext>
              </a:extLst>
            </p:cNvPr>
            <p:cNvSpPr/>
            <p:nvPr/>
          </p:nvSpPr>
          <p:spPr>
            <a:xfrm>
              <a:off x="2219324" y="3548990"/>
              <a:ext cx="1838325" cy="15973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Аналитическая модель</a:t>
              </a:r>
              <a:endParaRPr lang="en-US" dirty="0"/>
            </a:p>
            <a:p>
              <a:pPr algn="ctr"/>
              <a:endParaRPr lang="ru-RU" dirty="0"/>
            </a:p>
            <a:p>
              <a:pPr algn="ctr"/>
              <a:r>
                <a:rPr lang="en-US" dirty="0"/>
                <a:t>y = f(t)</a:t>
              </a:r>
              <a:endParaRPr lang="ru-RU" dirty="0"/>
            </a:p>
          </p:txBody>
        </p:sp>
        <p:sp>
          <p:nvSpPr>
            <p:cNvPr id="6" name="Стрелка: вправо 5">
              <a:extLst>
                <a:ext uri="{FF2B5EF4-FFF2-40B4-BE49-F238E27FC236}">
                  <a16:creationId xmlns:a16="http://schemas.microsoft.com/office/drawing/2014/main" id="{8775547E-0D6A-117E-BDBE-74C1E08A1B22}"/>
                </a:ext>
              </a:extLst>
            </p:cNvPr>
            <p:cNvSpPr/>
            <p:nvPr/>
          </p:nvSpPr>
          <p:spPr>
            <a:xfrm>
              <a:off x="1895473" y="4316228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Стрелка: вправо 6">
              <a:extLst>
                <a:ext uri="{FF2B5EF4-FFF2-40B4-BE49-F238E27FC236}">
                  <a16:creationId xmlns:a16="http://schemas.microsoft.com/office/drawing/2014/main" id="{5F242F59-70A4-50B6-E75A-3E46D741B433}"/>
                </a:ext>
              </a:extLst>
            </p:cNvPr>
            <p:cNvSpPr/>
            <p:nvPr/>
          </p:nvSpPr>
          <p:spPr>
            <a:xfrm>
              <a:off x="4133847" y="4316228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A2E48E2E-291F-F1DB-7817-D45AD2882402}"/>
                </a:ext>
              </a:extLst>
            </p:cNvPr>
            <p:cNvSpPr/>
            <p:nvPr/>
          </p:nvSpPr>
          <p:spPr>
            <a:xfrm>
              <a:off x="4457698" y="3759028"/>
              <a:ext cx="914400" cy="1190625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ответ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y</a:t>
              </a:r>
              <a:endParaRPr lang="ru-RU" dirty="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D3A05DD-0E27-5B95-B279-AD07969F0161}"/>
              </a:ext>
            </a:extLst>
          </p:cNvPr>
          <p:cNvGrpSpPr/>
          <p:nvPr/>
        </p:nvGrpSpPr>
        <p:grpSpPr>
          <a:xfrm>
            <a:off x="5734049" y="3569518"/>
            <a:ext cx="6457951" cy="3189370"/>
            <a:chOff x="5734049" y="3569518"/>
            <a:chExt cx="6457951" cy="3189370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0BAED2D0-7B33-087F-D190-DF04BB5D330A}"/>
                </a:ext>
              </a:extLst>
            </p:cNvPr>
            <p:cNvSpPr/>
            <p:nvPr/>
          </p:nvSpPr>
          <p:spPr>
            <a:xfrm>
              <a:off x="5734049" y="3647999"/>
              <a:ext cx="1514474" cy="1450757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</a:rPr>
                <a:t>исходные данные</a:t>
              </a:r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ru-RU" dirty="0">
                <a:solidFill>
                  <a:schemeClr val="tx1"/>
                </a:solidFill>
              </a:endParaRPr>
            </a:p>
            <a:p>
              <a:pPr algn="ctr"/>
              <a:r>
                <a:rPr lang="ru-RU" dirty="0">
                  <a:solidFill>
                    <a:schemeClr val="tx1"/>
                  </a:solidFill>
                </a:rPr>
                <a:t>параметры функции </a:t>
              </a:r>
              <a:r>
                <a:rPr lang="en-US" dirty="0">
                  <a:solidFill>
                    <a:schemeClr val="tx1"/>
                  </a:solidFill>
                </a:rPr>
                <a:t>f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BF803556-383A-887C-7912-D89022B682D0}"/>
                </a:ext>
              </a:extLst>
            </p:cNvPr>
            <p:cNvSpPr/>
            <p:nvPr/>
          </p:nvSpPr>
          <p:spPr>
            <a:xfrm>
              <a:off x="7648572" y="3569518"/>
              <a:ext cx="1838325" cy="1597342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Имитационная модель</a:t>
              </a:r>
              <a:endParaRPr lang="en-US" dirty="0"/>
            </a:p>
            <a:p>
              <a:pPr algn="ctr"/>
              <a:endParaRPr lang="ru-RU" dirty="0"/>
            </a:p>
          </p:txBody>
        </p:sp>
        <p:sp>
          <p:nvSpPr>
            <p:cNvPr id="11" name="Стрелка: вправо 10">
              <a:extLst>
                <a:ext uri="{FF2B5EF4-FFF2-40B4-BE49-F238E27FC236}">
                  <a16:creationId xmlns:a16="http://schemas.microsoft.com/office/drawing/2014/main" id="{EDF5A887-0D2B-673B-540E-67E8868E6011}"/>
                </a:ext>
              </a:extLst>
            </p:cNvPr>
            <p:cNvSpPr/>
            <p:nvPr/>
          </p:nvSpPr>
          <p:spPr>
            <a:xfrm>
              <a:off x="7324721" y="4336756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Стрелка: вправо 11">
              <a:extLst>
                <a:ext uri="{FF2B5EF4-FFF2-40B4-BE49-F238E27FC236}">
                  <a16:creationId xmlns:a16="http://schemas.microsoft.com/office/drawing/2014/main" id="{9072C65D-310E-C898-40CD-EC9AAA7E9D0E}"/>
                </a:ext>
              </a:extLst>
            </p:cNvPr>
            <p:cNvSpPr/>
            <p:nvPr/>
          </p:nvSpPr>
          <p:spPr>
            <a:xfrm>
              <a:off x="9563095" y="4336756"/>
              <a:ext cx="266702" cy="11430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0607EB3C-0AA6-150D-9837-D507BE04F2F8}"/>
                </a:ext>
              </a:extLst>
            </p:cNvPr>
            <p:cNvSpPr/>
            <p:nvPr/>
          </p:nvSpPr>
          <p:spPr>
            <a:xfrm>
              <a:off x="9886946" y="3717241"/>
              <a:ext cx="1981204" cy="1266888"/>
            </a:xfrm>
            <a:prstGeom prst="roundRect">
              <a:avLst/>
            </a:prstGeom>
            <a:solidFill>
              <a:srgbClr val="92D05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ответ</a:t>
              </a:r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ru-RU" dirty="0"/>
                <a:t>траектория </a:t>
              </a:r>
              <a:br>
                <a:rPr lang="ru-RU" dirty="0"/>
              </a:br>
              <a:r>
                <a:rPr lang="en-US" dirty="0"/>
                <a:t>y = f(t)</a:t>
              </a:r>
              <a:endParaRPr lang="ru-RU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16BF42A-5B56-C276-EDF8-7221AC4F9893}"/>
                </a:ext>
              </a:extLst>
            </p:cNvPr>
            <p:cNvSpPr txBox="1"/>
            <p:nvPr/>
          </p:nvSpPr>
          <p:spPr>
            <a:xfrm>
              <a:off x="7982898" y="4651902"/>
              <a:ext cx="119493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ru-RU" dirty="0"/>
                <a:t>Запуск</a:t>
              </a:r>
            </a:p>
          </p:txBody>
        </p:sp>
        <p:pic>
          <p:nvPicPr>
            <p:cNvPr id="2050" name="Picture 2" descr="ВИЗУАЛИЗАЦИЯ ДИСКРЕТНОГО МНОЖЕСТВА ТОЧЕК ПРИ ПОМОЩИ ПЛАВНЫХ КРИВЫХ БЕЗ  ЛОЖНЫХ ЭКСТРЕМУМОВ">
              <a:extLst>
                <a:ext uri="{FF2B5EF4-FFF2-40B4-BE49-F238E27FC236}">
                  <a16:creationId xmlns:a16="http://schemas.microsoft.com/office/drawing/2014/main" id="{235D5BAE-C1D3-277D-2A33-3DF97DF21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350"/>
            <a:stretch>
              <a:fillRect/>
            </a:stretch>
          </p:blipFill>
          <p:spPr bwMode="auto">
            <a:xfrm>
              <a:off x="9662566" y="5005387"/>
              <a:ext cx="2529434" cy="17535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Равнобедренный треугольник 15">
              <a:extLst>
                <a:ext uri="{FF2B5EF4-FFF2-40B4-BE49-F238E27FC236}">
                  <a16:creationId xmlns:a16="http://schemas.microsoft.com/office/drawing/2014/main" id="{14B78B5C-BA42-484A-1022-75CD815BD55C}"/>
                </a:ext>
              </a:extLst>
            </p:cNvPr>
            <p:cNvSpPr/>
            <p:nvPr/>
          </p:nvSpPr>
          <p:spPr>
            <a:xfrm rot="5400000">
              <a:off x="8815884" y="4679405"/>
              <a:ext cx="314325" cy="295275"/>
            </a:xfrm>
            <a:prstGeom prst="triangl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5749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C06D8CE-5215-3D86-2295-237AE49D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9729004-CF97-F3D3-5982-E703F3629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87829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225</TotalTime>
  <Words>119</Words>
  <Application>Microsoft Office PowerPoint</Application>
  <PresentationFormat>Широкоэкранный</PresentationFormat>
  <Paragraphs>38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Ретро</vt:lpstr>
      <vt:lpstr>Имитационное моделирование</vt:lpstr>
      <vt:lpstr>Системы и модели</vt:lpstr>
      <vt:lpstr>Виды моделирования</vt:lpstr>
      <vt:lpstr>Презентация PowerPoint</vt:lpstr>
      <vt:lpstr>Презентация PowerPoint</vt:lpstr>
      <vt:lpstr>Имитационная модель</vt:lpstr>
      <vt:lpstr>Примеры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39</cp:revision>
  <dcterms:created xsi:type="dcterms:W3CDTF">2019-01-25T03:35:28Z</dcterms:created>
  <dcterms:modified xsi:type="dcterms:W3CDTF">2026-01-22T07:26:02Z</dcterms:modified>
</cp:coreProperties>
</file>