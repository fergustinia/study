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utube.ru/video/a6eab0c7db54d8c4e974d1e1296bb115/?playlist=764412" TargetMode="External"/><Relationship Id="rId2" Type="http://schemas.openxmlformats.org/officeDocument/2006/relationships/hyperlink" Target="https://rutube.ru/video/990f18edd086d0b00c41d4effa73d6d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utube.ru/plst/853163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5BB22-DDCC-42F4-9A4F-1E7EC4F07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Имитационное моделирование</a:t>
            </a:r>
            <a:br>
              <a:rPr lang="ru-RU" dirty="0"/>
            </a:br>
            <a:r>
              <a:rPr lang="en-US" dirty="0"/>
              <a:t>Simulations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86AF3C-0DF0-4311-AC7B-851BFA2F4B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Моисеев Александр Николаевич</a:t>
            </a:r>
          </a:p>
        </p:txBody>
      </p:sp>
    </p:spTree>
    <p:extLst>
      <p:ext uri="{BB962C8B-B14F-4D97-AF65-F5344CB8AC3E}">
        <p14:creationId xmlns:p14="http://schemas.microsoft.com/office/powerpoint/2010/main" val="1995109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B881DE-4B14-430E-9620-9C61EA9D9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86603"/>
            <a:ext cx="10507980" cy="1053925"/>
          </a:xfrm>
        </p:spPr>
        <p:txBody>
          <a:bodyPr/>
          <a:lstStyle/>
          <a:p>
            <a:r>
              <a:rPr lang="ru-RU" dirty="0"/>
              <a:t>Общая информация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89EAF0-A68B-4406-B4EC-FC652B60B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340528"/>
            <a:ext cx="11070824" cy="4962619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2"/>
                </a:solidFill>
              </a:rPr>
              <a:t>Лекций</a:t>
            </a:r>
            <a:r>
              <a:rPr lang="en-US" sz="2400" dirty="0">
                <a:solidFill>
                  <a:schemeClr val="accent2"/>
                </a:solidFill>
              </a:rPr>
              <a:t>: 32 </a:t>
            </a:r>
            <a:r>
              <a:rPr lang="ru-RU" sz="2400" dirty="0">
                <a:solidFill>
                  <a:schemeClr val="accent2"/>
                </a:solidFill>
              </a:rPr>
              <a:t>ч.	</a:t>
            </a:r>
            <a:r>
              <a:rPr lang="en-US" sz="2400" dirty="0">
                <a:solidFill>
                  <a:schemeClr val="accent2"/>
                </a:solidFill>
              </a:rPr>
              <a:t>	</a:t>
            </a:r>
            <a:r>
              <a:rPr lang="ru-RU" sz="2400" dirty="0">
                <a:solidFill>
                  <a:schemeClr val="accent2"/>
                </a:solidFill>
              </a:rPr>
              <a:t>Лабораторных</a:t>
            </a:r>
            <a:r>
              <a:rPr lang="en-US" sz="2400" dirty="0">
                <a:solidFill>
                  <a:schemeClr val="accent2"/>
                </a:solidFill>
              </a:rPr>
              <a:t>: 32 </a:t>
            </a:r>
            <a:r>
              <a:rPr lang="ru-RU" sz="2400" dirty="0">
                <a:solidFill>
                  <a:schemeClr val="accent2"/>
                </a:solidFill>
              </a:rPr>
              <a:t>ч</a:t>
            </a:r>
            <a:r>
              <a:rPr lang="en-US" sz="2400" dirty="0">
                <a:solidFill>
                  <a:schemeClr val="accent2"/>
                </a:solidFill>
              </a:rPr>
              <a:t>.</a:t>
            </a:r>
            <a:r>
              <a:rPr lang="ru-RU" sz="2400" dirty="0">
                <a:solidFill>
                  <a:schemeClr val="accent2"/>
                </a:solidFill>
              </a:rPr>
              <a:t>		Зачет </a:t>
            </a:r>
            <a:r>
              <a:rPr lang="en-US" sz="2400" dirty="0">
                <a:solidFill>
                  <a:schemeClr val="accent2"/>
                </a:solidFill>
              </a:rPr>
              <a:t>(</a:t>
            </a:r>
            <a:r>
              <a:rPr lang="ru-RU" sz="2400" dirty="0">
                <a:solidFill>
                  <a:schemeClr val="accent2"/>
                </a:solidFill>
              </a:rPr>
              <a:t>с оценкой)</a:t>
            </a:r>
            <a:r>
              <a:rPr lang="ru-RU" sz="2400" dirty="0">
                <a:solidFill>
                  <a:schemeClr val="bg1"/>
                </a:solidFill>
              </a:rPr>
              <a:t>с оценкой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u-RU" sz="2400" dirty="0"/>
              <a:t>Курс разделен на 3 основные темы. Лабораторные работы и вопросы по теории привязаны к этим темам.</a:t>
            </a:r>
          </a:p>
          <a:p>
            <a:r>
              <a:rPr lang="ru-RU" sz="2400" dirty="0"/>
              <a:t>Финальная оценка</a:t>
            </a:r>
            <a:r>
              <a:rPr lang="en-US" sz="2400" dirty="0"/>
              <a:t> = </a:t>
            </a:r>
            <a:r>
              <a:rPr lang="ru-RU" sz="2400" dirty="0"/>
              <a:t>среднее арифметическое всех оценок по темам за семестр при условии, что все эти оценки </a:t>
            </a:r>
            <a:r>
              <a:rPr lang="en-US" sz="2400" dirty="0"/>
              <a:t>≥ 2</a:t>
            </a:r>
            <a:r>
              <a:rPr lang="ru-RU" sz="2400" dirty="0"/>
              <a:t>,5</a:t>
            </a:r>
            <a:r>
              <a:rPr lang="en-US" sz="2400" dirty="0"/>
              <a:t> </a:t>
            </a:r>
            <a:r>
              <a:rPr lang="ru-RU" sz="2400" dirty="0"/>
              <a:t>и </a:t>
            </a:r>
            <a:r>
              <a:rPr lang="ru-RU" sz="2400" dirty="0">
                <a:solidFill>
                  <a:srgbClr val="C00000"/>
                </a:solidFill>
              </a:rPr>
              <a:t>все лабораторные работы сданы</a:t>
            </a:r>
            <a:r>
              <a:rPr lang="en-US" sz="2400" dirty="0">
                <a:solidFill>
                  <a:srgbClr val="C00000"/>
                </a:solidFill>
              </a:rPr>
              <a:t>!</a:t>
            </a:r>
            <a:r>
              <a:rPr lang="ru-RU" sz="2400" dirty="0">
                <a:solidFill>
                  <a:srgbClr val="C00000"/>
                </a:solidFill>
              </a:rPr>
              <a:t> </a:t>
            </a:r>
            <a:r>
              <a:rPr lang="ru-RU" sz="2400" dirty="0">
                <a:solidFill>
                  <a:schemeClr val="tx1"/>
                </a:solidFill>
              </a:rPr>
              <a:t>Иначе финальная оценка = 0.</a:t>
            </a:r>
            <a:r>
              <a:rPr lang="ru-RU" sz="2400" dirty="0">
                <a:solidFill>
                  <a:srgbClr val="C00000"/>
                </a:solidFill>
              </a:rPr>
              <a:t> </a:t>
            </a:r>
          </a:p>
          <a:p>
            <a:r>
              <a:rPr lang="ru-RU" sz="2400" dirty="0"/>
              <a:t>Всего </a:t>
            </a:r>
            <a:r>
              <a:rPr lang="en-US" sz="2400" b="1" dirty="0">
                <a:solidFill>
                  <a:srgbClr val="0070C0"/>
                </a:solidFill>
              </a:rPr>
              <a:t>10</a:t>
            </a:r>
            <a:r>
              <a:rPr lang="en-US" sz="2400" dirty="0"/>
              <a:t> </a:t>
            </a:r>
            <a:r>
              <a:rPr lang="ru-RU" sz="2400" dirty="0"/>
              <a:t>лабораторных работ (л/р)</a:t>
            </a:r>
            <a:r>
              <a:rPr lang="en-US" sz="2400" dirty="0"/>
              <a:t>.</a:t>
            </a:r>
            <a:r>
              <a:rPr lang="ru-RU" sz="2400" dirty="0"/>
              <a:t> За каждую л/р выставляется оценка. Оценка за тему = ср. арифметическое оценок за л/р этой темы. </a:t>
            </a:r>
          </a:p>
          <a:p>
            <a:r>
              <a:rPr lang="ru-RU" sz="2400" dirty="0"/>
              <a:t>Срок сдачи каждой л/р строго определен (см. файл «Лабораторные работы»). Если л/р сдана не вовремя без уважительной причины, то студент сдает теорию по соответствующей теме.</a:t>
            </a:r>
          </a:p>
          <a:p>
            <a:r>
              <a:rPr lang="ru-RU" sz="2400" dirty="0"/>
              <a:t>Сдача теории –</a:t>
            </a:r>
            <a:r>
              <a:rPr lang="en-US" sz="2400" dirty="0"/>
              <a:t> </a:t>
            </a:r>
            <a:r>
              <a:rPr lang="ru-RU" sz="2400" dirty="0"/>
              <a:t>на промежуточной сессии и зачетной неделе</a:t>
            </a:r>
            <a:r>
              <a:rPr lang="en-US" sz="2400" dirty="0"/>
              <a:t>.</a:t>
            </a:r>
            <a:endParaRPr lang="ru-RU" sz="2400" dirty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09751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DD3101-E414-44EF-B175-2CC14CB56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</a:t>
            </a:r>
          </a:p>
        </p:txBody>
      </p:sp>
      <p:sp>
        <p:nvSpPr>
          <p:cNvPr id="3" name="Правая фигурная скобка 2">
            <a:extLst>
              <a:ext uri="{FF2B5EF4-FFF2-40B4-BE49-F238E27FC236}">
                <a16:creationId xmlns:a16="http://schemas.microsoft.com/office/drawing/2014/main" id="{2B8484E8-F300-4AA3-954C-80FB37E9A000}"/>
              </a:ext>
            </a:extLst>
          </p:cNvPr>
          <p:cNvSpPr/>
          <p:nvPr/>
        </p:nvSpPr>
        <p:spPr>
          <a:xfrm>
            <a:off x="9499107" y="2316425"/>
            <a:ext cx="88776" cy="117185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авая фигурная скобка 3">
            <a:extLst>
              <a:ext uri="{FF2B5EF4-FFF2-40B4-BE49-F238E27FC236}">
                <a16:creationId xmlns:a16="http://schemas.microsoft.com/office/drawing/2014/main" id="{A7D741A1-2D99-454E-A245-9AD4C124D44A}"/>
              </a:ext>
            </a:extLst>
          </p:cNvPr>
          <p:cNvSpPr/>
          <p:nvPr/>
        </p:nvSpPr>
        <p:spPr>
          <a:xfrm>
            <a:off x="9499107" y="3507327"/>
            <a:ext cx="88776" cy="40837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авая фигурная скобка 6">
            <a:extLst>
              <a:ext uri="{FF2B5EF4-FFF2-40B4-BE49-F238E27FC236}">
                <a16:creationId xmlns:a16="http://schemas.microsoft.com/office/drawing/2014/main" id="{ECCE6D31-BC7D-4AE4-850D-D3F275D9DE09}"/>
              </a:ext>
            </a:extLst>
          </p:cNvPr>
          <p:cNvSpPr/>
          <p:nvPr/>
        </p:nvSpPr>
        <p:spPr>
          <a:xfrm>
            <a:off x="9499107" y="3937358"/>
            <a:ext cx="88776" cy="17874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6A11B-59F8-4139-822D-ADC11D56BAB8}"/>
              </a:ext>
            </a:extLst>
          </p:cNvPr>
          <p:cNvSpPr txBox="1"/>
          <p:nvPr/>
        </p:nvSpPr>
        <p:spPr>
          <a:xfrm>
            <a:off x="9724895" y="2749598"/>
            <a:ext cx="826252" cy="319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dirty="0"/>
              <a:t>Тема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CC4BDF-F946-40FB-9300-977C5A052B80}"/>
              </a:ext>
            </a:extLst>
          </p:cNvPr>
          <p:cNvSpPr txBox="1"/>
          <p:nvPr/>
        </p:nvSpPr>
        <p:spPr>
          <a:xfrm>
            <a:off x="9724895" y="3542265"/>
            <a:ext cx="826252" cy="319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dirty="0"/>
              <a:t>Тема 2</a:t>
            </a: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7D083B59-6358-4453-BD48-BC002D8B4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425960"/>
              </p:ext>
            </p:extLst>
          </p:nvPr>
        </p:nvGraphicFramePr>
        <p:xfrm>
          <a:off x="1640853" y="1951648"/>
          <a:ext cx="7783326" cy="375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3844">
                  <a:extLst>
                    <a:ext uri="{9D8B030D-6E8A-4147-A177-3AD203B41FA5}">
                      <a16:colId xmlns:a16="http://schemas.microsoft.com/office/drawing/2014/main" val="1856044407"/>
                    </a:ext>
                  </a:extLst>
                </a:gridCol>
                <a:gridCol w="1401482">
                  <a:extLst>
                    <a:ext uri="{9D8B030D-6E8A-4147-A177-3AD203B41FA5}">
                      <a16:colId xmlns:a16="http://schemas.microsoft.com/office/drawing/2014/main" val="1747610503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33187429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Тема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Кол-во </a:t>
                      </a:r>
                      <a:r>
                        <a:rPr lang="ru-RU" sz="1800" dirty="0" err="1"/>
                        <a:t>лекц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Кол-во лаб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35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/>
                        <a:t>1. </a:t>
                      </a:r>
                      <a:r>
                        <a:rPr lang="ru-RU" sz="2000" dirty="0"/>
                        <a:t>Примеры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84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/>
                        <a:t>2. </a:t>
                      </a:r>
                      <a:r>
                        <a:rPr lang="ru-RU" sz="2000" dirty="0"/>
                        <a:t>Введение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587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3. </a:t>
                      </a:r>
                      <a:r>
                        <a:rPr lang="ru-RU" sz="2000" dirty="0"/>
                        <a:t>Клеточные автоматы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532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2000" dirty="0"/>
                        <a:t>4</a:t>
                      </a:r>
                      <a:r>
                        <a:rPr lang="en-US" sz="2000" dirty="0"/>
                        <a:t>. </a:t>
                      </a:r>
                      <a:r>
                        <a:rPr lang="ru-RU" sz="2000" dirty="0"/>
                        <a:t>Стохастическое моделирование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482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2000" dirty="0"/>
                        <a:t>5</a:t>
                      </a:r>
                      <a:r>
                        <a:rPr lang="en-US" sz="2000" dirty="0"/>
                        <a:t>. </a:t>
                      </a:r>
                      <a:r>
                        <a:rPr lang="ru-RU" sz="2000" dirty="0"/>
                        <a:t>Дискретно-событийное и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    </a:t>
                      </a:r>
                      <a:r>
                        <a:rPr lang="ru-RU" sz="2000" dirty="0"/>
                        <a:t>агентное моделирование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546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2000" dirty="0"/>
                        <a:t>6</a:t>
                      </a:r>
                      <a:r>
                        <a:rPr lang="en-US" sz="2000" dirty="0"/>
                        <a:t>. </a:t>
                      </a:r>
                      <a:r>
                        <a:rPr lang="ru-RU" sz="2000" dirty="0"/>
                        <a:t>Планирование компьютерного эксперимента и обработка результатов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391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2000" dirty="0"/>
                        <a:t>7</a:t>
                      </a:r>
                      <a:r>
                        <a:rPr lang="en-US" sz="2000" dirty="0"/>
                        <a:t>. </a:t>
                      </a:r>
                      <a:r>
                        <a:rPr lang="ru-RU" sz="2000" dirty="0"/>
                        <a:t>ПО для имитационного моделирования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76017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4876D0-C8D1-0C9A-3DA0-99DCB8B4D9A1}"/>
              </a:ext>
            </a:extLst>
          </p:cNvPr>
          <p:cNvSpPr txBox="1"/>
          <p:nvPr/>
        </p:nvSpPr>
        <p:spPr>
          <a:xfrm>
            <a:off x="9724895" y="4671365"/>
            <a:ext cx="826252" cy="319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dirty="0"/>
              <a:t>Тема 3</a:t>
            </a:r>
          </a:p>
        </p:txBody>
      </p:sp>
    </p:spTree>
    <p:extLst>
      <p:ext uri="{BB962C8B-B14F-4D97-AF65-F5344CB8AC3E}">
        <p14:creationId xmlns:p14="http://schemas.microsoft.com/office/powerpoint/2010/main" val="994882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67720A-48D0-198D-457C-3BF89596C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имитационное моделирование?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EEAC3E-265E-490F-1B59-73AF1EF43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253225"/>
          </a:xfrm>
        </p:spPr>
        <p:txBody>
          <a:bodyPr/>
          <a:lstStyle/>
          <a:p>
            <a:endParaRPr lang="ru-RU" dirty="0"/>
          </a:p>
          <a:p>
            <a:r>
              <a:rPr lang="en-US" dirty="0">
                <a:hlinkClick r:id="rId2"/>
              </a:rPr>
              <a:t>https://rutube.ru/video/990f18edd086d0b00c41d4effa73d6da/</a:t>
            </a:r>
            <a:endParaRPr lang="ru-RU" dirty="0"/>
          </a:p>
          <a:p>
            <a:r>
              <a:rPr lang="en-US" dirty="0">
                <a:hlinkClick r:id="rId3"/>
              </a:rPr>
              <a:t>https://rutube.ru/video/a6eab0c7db54d8c4e974d1e1296bb115/?playlist=764412</a:t>
            </a:r>
            <a:endParaRPr lang="ru-RU" dirty="0"/>
          </a:p>
          <a:p>
            <a:r>
              <a:rPr lang="en-US" dirty="0">
                <a:hlinkClick r:id="rId4"/>
              </a:rPr>
              <a:t>https://rutube.ru/plst/853163/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2896149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386</TotalTime>
  <Words>256</Words>
  <Application>Microsoft Office PowerPoint</Application>
  <PresentationFormat>Широкоэкранный</PresentationFormat>
  <Paragraphs>39</Paragraphs>
  <Slides>4</Slides>
  <Notes>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7" baseType="lpstr">
      <vt:lpstr>Calibri</vt:lpstr>
      <vt:lpstr>Calibri Light</vt:lpstr>
      <vt:lpstr>Ретро</vt:lpstr>
      <vt:lpstr>Имитационное моделирование Simulations</vt:lpstr>
      <vt:lpstr>Общая информация</vt:lpstr>
      <vt:lpstr>План</vt:lpstr>
      <vt:lpstr>Что такое имитационное моделирование?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</dc:title>
  <dc:creator>Моисеева Светлана</dc:creator>
  <cp:lastModifiedBy>Alexander Moiseev</cp:lastModifiedBy>
  <cp:revision>47</cp:revision>
  <dcterms:created xsi:type="dcterms:W3CDTF">2019-01-25T03:35:28Z</dcterms:created>
  <dcterms:modified xsi:type="dcterms:W3CDTF">2026-02-08T11:33:14Z</dcterms:modified>
</cp:coreProperties>
</file>