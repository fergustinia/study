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73" r:id="rId5"/>
    <p:sldId id="272" r:id="rId6"/>
    <p:sldId id="259" r:id="rId7"/>
    <p:sldId id="261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ED3D9F-D541-4EB4-AF52-3B5CAC57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r>
              <a:rPr lang="en-US" dirty="0"/>
              <a:t> </a:t>
            </a:r>
            <a:r>
              <a:rPr lang="ru-RU" dirty="0"/>
              <a:t>2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Полет тела в атмосфере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BAF208-6E49-43D0-B959-D51D4387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Детерминированная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69126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Математическая модель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 descr="Изображение выглядит как текст, Шрифт, рукописный текс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FE7233-1B22-2FDB-EDEE-22D36FD3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1737360"/>
            <a:ext cx="3705225" cy="222885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AD27B3-B388-A5AE-5925-A35CE6F82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3966210"/>
            <a:ext cx="5876925" cy="161925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Шрифт, чек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1792EB-BDC2-B373-BAC0-C940FC5AE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" y="5534236"/>
            <a:ext cx="88677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8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Математическая модель – решение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2570152" cy="435350"/>
          </a:xfrm>
        </p:spPr>
        <p:txBody>
          <a:bodyPr/>
          <a:lstStyle/>
          <a:p>
            <a:r>
              <a:rPr lang="ru-RU" b="1" dirty="0"/>
              <a:t>Метод Рунге-Кутта</a:t>
            </a:r>
            <a:endParaRPr lang="en-US" b="1" dirty="0"/>
          </a:p>
          <a:p>
            <a:endParaRPr lang="ru-RU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AD1342-DCA9-48CC-B0F7-26705A0AB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1845733"/>
            <a:ext cx="2185477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Шрифт, рукописный текс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1DDB96-1120-DA8D-D37E-5DEB853C6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7699"/>
            <a:ext cx="3705225" cy="2228850"/>
          </a:xfrm>
          <a:prstGeom prst="rect">
            <a:avLst/>
          </a:prstGeom>
        </p:spPr>
      </p:pic>
      <p:pic>
        <p:nvPicPr>
          <p:cNvPr id="6" name="Рисунок 5" descr="Изображение выглядит как Шрифт, текст, белый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9591FA-A3C1-E493-E325-C4AF40CFD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0" y="2898472"/>
            <a:ext cx="2962275" cy="73342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38284389-9813-2640-1A9F-3CC27DF7BAA5}"/>
              </a:ext>
            </a:extLst>
          </p:cNvPr>
          <p:cNvSpPr/>
          <p:nvPr/>
        </p:nvSpPr>
        <p:spPr>
          <a:xfrm>
            <a:off x="4075576" y="3680059"/>
            <a:ext cx="2487561" cy="344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Шрифт, текст, рукописный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07BD27-28E2-5100-FDFF-FEFAD4A42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490" y="3380637"/>
            <a:ext cx="5114925" cy="942975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Шрифт, типография, рукописный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169543-CC5A-E074-7F94-3C996D3B1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490" y="4765918"/>
            <a:ext cx="34861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5207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Прототип приложения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C6E3BB-00D5-4A52-965C-DBE9DF10D11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326" y="1238674"/>
            <a:ext cx="4879340" cy="4630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94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DF126-07B2-425A-A428-6E75BFF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Формулы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2AE1F-844D-41FF-9A11-A77754B6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923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t, x, y, v0, 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cosa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sina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S, m, k, 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btLaunch_Click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(!timer1.Enabled)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{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chart1.Series[0].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Points.Clear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t = 0;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x = 0;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inputHeight.Value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v0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inputSpeed.Value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a =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inputAngle.Value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Math.PI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/ 180;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cosa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Math.Cos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(a);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sina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Math.Sin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(a);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S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inputSize.Value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m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inputWeight.Value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k = 0.5M * C * rho * S / m;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v0 *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cosa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v0 *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sina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chart1.Series[0].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Points.AddXY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(x, y);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timer1.Start();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}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}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 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2BF1A6B-0D3E-4498-AD55-E838B4760EC3}"/>
              </a:ext>
            </a:extLst>
          </p:cNvPr>
          <p:cNvSpPr/>
          <p:nvPr/>
        </p:nvSpPr>
        <p:spPr>
          <a:xfrm>
            <a:off x="7977929" y="2161992"/>
            <a:ext cx="41441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g = 9.81M;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C = 0.15M;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rho = 1.29M;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7857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DF126-07B2-425A-A428-6E75BFF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Таймер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2AE1F-844D-41FF-9A11-A77754B6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dt = 0.1M;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timer1_Tick(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t += dt;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v =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Math.Sqrt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- k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v * dt;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- (g+ k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v) * dt;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x = x +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dt;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y = y +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dt;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chart1.Series[0].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Points.AddXY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(x, y);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if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(y &lt;= 0) timer1.Stop();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039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DF126-07B2-425A-A428-6E75BFF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Проверка на изменение значений</a:t>
            </a:r>
            <a:r>
              <a:rPr lang="en-US"/>
              <a:t>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dt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2AE1F-844D-41FF-9A11-A77754B6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timer1_Tick(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. . . . .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labDistance.Text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"d="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+ x;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38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9816"/>
          </a:xfrm>
        </p:spPr>
        <p:txBody>
          <a:bodyPr/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Реализовать приложение для моделирования полёта тела в атмосфере. 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Предусмотреть возможность ввода шага моделирования в окне приложения и вывода необходимых результатов (см. таблицу). 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Не очищая предыдущие результаты, выполнить моделирование с разными шагами, сравнить траектории и заполнить таблицу</a:t>
            </a:r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Сделать выводы.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9F645BA-5659-CD00-3C91-97CCFDFA3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412584"/>
              </p:ext>
            </p:extLst>
          </p:nvPr>
        </p:nvGraphicFramePr>
        <p:xfrm>
          <a:off x="2566731" y="4319530"/>
          <a:ext cx="7058538" cy="1181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32506">
                  <a:extLst>
                    <a:ext uri="{9D8B030D-6E8A-4147-A177-3AD203B41FA5}">
                      <a16:colId xmlns:a16="http://schemas.microsoft.com/office/drawing/2014/main" val="1462810876"/>
                    </a:ext>
                  </a:extLst>
                </a:gridCol>
                <a:gridCol w="697005">
                  <a:extLst>
                    <a:ext uri="{9D8B030D-6E8A-4147-A177-3AD203B41FA5}">
                      <a16:colId xmlns:a16="http://schemas.microsoft.com/office/drawing/2014/main" val="2201162237"/>
                    </a:ext>
                  </a:extLst>
                </a:gridCol>
                <a:gridCol w="697005">
                  <a:extLst>
                    <a:ext uri="{9D8B030D-6E8A-4147-A177-3AD203B41FA5}">
                      <a16:colId xmlns:a16="http://schemas.microsoft.com/office/drawing/2014/main" val="3189136051"/>
                    </a:ext>
                  </a:extLst>
                </a:gridCol>
                <a:gridCol w="697825">
                  <a:extLst>
                    <a:ext uri="{9D8B030D-6E8A-4147-A177-3AD203B41FA5}">
                      <a16:colId xmlns:a16="http://schemas.microsoft.com/office/drawing/2014/main" val="1405694936"/>
                    </a:ext>
                  </a:extLst>
                </a:gridCol>
                <a:gridCol w="697825">
                  <a:extLst>
                    <a:ext uri="{9D8B030D-6E8A-4147-A177-3AD203B41FA5}">
                      <a16:colId xmlns:a16="http://schemas.microsoft.com/office/drawing/2014/main" val="1126734379"/>
                    </a:ext>
                  </a:extLst>
                </a:gridCol>
                <a:gridCol w="936372">
                  <a:extLst>
                    <a:ext uri="{9D8B030D-6E8A-4147-A177-3AD203B41FA5}">
                      <a16:colId xmlns:a16="http://schemas.microsoft.com/office/drawing/2014/main" val="3912484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Шаг моделирования, с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0,1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0,01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0,001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0,0001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96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Дальность полёта, м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903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Максимальная высота, м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3170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Скорость в конечной точке, м/с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dirty="0">
                          <a:effectLst/>
                        </a:rPr>
                        <a:t> 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0452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55318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786</TotalTime>
  <Words>485</Words>
  <Application>Microsoft Office PowerPoint</Application>
  <PresentationFormat>Широкоэкранный</PresentationFormat>
  <Paragraphs>86</Paragraphs>
  <Slides>9</Slides>
  <Notes>0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Times New Roman</vt:lpstr>
      <vt:lpstr>Ретро</vt:lpstr>
      <vt:lpstr>Имитационное моделирование</vt:lpstr>
      <vt:lpstr>Пример 2   Полет тела в атмосфере</vt:lpstr>
      <vt:lpstr>Математическая модель</vt:lpstr>
      <vt:lpstr>Математическая модель – решение</vt:lpstr>
      <vt:lpstr>Прототип приложения</vt:lpstr>
      <vt:lpstr>Формулы</vt:lpstr>
      <vt:lpstr>Таймер</vt:lpstr>
      <vt:lpstr>Проверка на изменение значений dt</vt:lpstr>
      <vt:lpstr>Лабораторная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50</cp:revision>
  <dcterms:created xsi:type="dcterms:W3CDTF">2019-01-25T03:35:28Z</dcterms:created>
  <dcterms:modified xsi:type="dcterms:W3CDTF">2026-01-22T07:22:43Z</dcterms:modified>
</cp:coreProperties>
</file>