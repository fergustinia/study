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6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89EFB-41A0-4EDF-8503-7562AC05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Имитационная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95320-D59A-4931-B7E7-EF2EF0A1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716616"/>
          </a:xfrm>
        </p:spPr>
        <p:txBody>
          <a:bodyPr>
            <a:normAutofit/>
          </a:bodyPr>
          <a:lstStyle/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400" dirty="0"/>
              <a:t>модель алгоритма работы (эволюции) системы</a:t>
            </a:r>
          </a:p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400" dirty="0"/>
              <a:t>численный метод проведения компьютерных экспериментов с математическими моделями, описывающими поведение систем в течение времени.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776D57B-7BD9-6B35-0878-CAF6B828747C}"/>
              </a:ext>
            </a:extLst>
          </p:cNvPr>
          <p:cNvGrpSpPr/>
          <p:nvPr/>
        </p:nvGrpSpPr>
        <p:grpSpPr>
          <a:xfrm>
            <a:off x="323849" y="3470910"/>
            <a:ext cx="5048249" cy="1753501"/>
            <a:chOff x="323849" y="3470910"/>
            <a:chExt cx="5048249" cy="1753501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F5BC69EC-43C4-7E31-BE47-7EC6624C267A}"/>
                </a:ext>
              </a:extLst>
            </p:cNvPr>
            <p:cNvSpPr/>
            <p:nvPr/>
          </p:nvSpPr>
          <p:spPr>
            <a:xfrm>
              <a:off x="323849" y="3470910"/>
              <a:ext cx="1552574" cy="175350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исходные данные</a:t>
              </a:r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параметры функции </a:t>
              </a:r>
              <a:r>
                <a:rPr lang="en-US" dirty="0">
                  <a:solidFill>
                    <a:schemeClr val="tx1"/>
                  </a:solidFill>
                </a:rPr>
                <a:t>f, </a:t>
              </a:r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значение </a:t>
              </a:r>
              <a:r>
                <a:rPr lang="en-US" dirty="0">
                  <a:solidFill>
                    <a:schemeClr val="tx1"/>
                  </a:solidFill>
                </a:rPr>
                <a:t>t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C2B0ED-FF37-69F2-1512-4580AFC42029}"/>
                </a:ext>
              </a:extLst>
            </p:cNvPr>
            <p:cNvSpPr/>
            <p:nvPr/>
          </p:nvSpPr>
          <p:spPr>
            <a:xfrm>
              <a:off x="2219324" y="3548990"/>
              <a:ext cx="1838325" cy="15973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Аналитическая модель</a:t>
              </a:r>
              <a:endParaRPr lang="en-US" dirty="0"/>
            </a:p>
            <a:p>
              <a:pPr algn="ctr"/>
              <a:endParaRPr lang="ru-RU" dirty="0"/>
            </a:p>
            <a:p>
              <a:pPr algn="ctr"/>
              <a:r>
                <a:rPr lang="en-US" dirty="0"/>
                <a:t>y = f(t)</a:t>
              </a:r>
              <a:endParaRPr lang="ru-RU" dirty="0"/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8775547E-0D6A-117E-BDBE-74C1E08A1B22}"/>
                </a:ext>
              </a:extLst>
            </p:cNvPr>
            <p:cNvSpPr/>
            <p:nvPr/>
          </p:nvSpPr>
          <p:spPr>
            <a:xfrm>
              <a:off x="1895473" y="4316228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Стрелка: вправо 6">
              <a:extLst>
                <a:ext uri="{FF2B5EF4-FFF2-40B4-BE49-F238E27FC236}">
                  <a16:creationId xmlns:a16="http://schemas.microsoft.com/office/drawing/2014/main" id="{5F242F59-70A4-50B6-E75A-3E46D741B433}"/>
                </a:ext>
              </a:extLst>
            </p:cNvPr>
            <p:cNvSpPr/>
            <p:nvPr/>
          </p:nvSpPr>
          <p:spPr>
            <a:xfrm>
              <a:off x="4133847" y="4316228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A2E48E2E-291F-F1DB-7817-D45AD2882402}"/>
                </a:ext>
              </a:extLst>
            </p:cNvPr>
            <p:cNvSpPr/>
            <p:nvPr/>
          </p:nvSpPr>
          <p:spPr>
            <a:xfrm>
              <a:off x="4457698" y="3759028"/>
              <a:ext cx="914400" cy="119062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ответ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y</a:t>
              </a:r>
              <a:endParaRPr lang="ru-RU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D3A05DD-0E27-5B95-B279-AD07969F0161}"/>
              </a:ext>
            </a:extLst>
          </p:cNvPr>
          <p:cNvGrpSpPr/>
          <p:nvPr/>
        </p:nvGrpSpPr>
        <p:grpSpPr>
          <a:xfrm>
            <a:off x="5734049" y="3569518"/>
            <a:ext cx="6457951" cy="3189370"/>
            <a:chOff x="5734049" y="3569518"/>
            <a:chExt cx="6457951" cy="3189370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0BAED2D0-7B33-087F-D190-DF04BB5D330A}"/>
                </a:ext>
              </a:extLst>
            </p:cNvPr>
            <p:cNvSpPr/>
            <p:nvPr/>
          </p:nvSpPr>
          <p:spPr>
            <a:xfrm>
              <a:off x="5734049" y="3647999"/>
              <a:ext cx="1514474" cy="1450757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исходные данные</a:t>
              </a:r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параметры функции </a:t>
              </a:r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F803556-383A-887C-7912-D89022B682D0}"/>
                </a:ext>
              </a:extLst>
            </p:cNvPr>
            <p:cNvSpPr/>
            <p:nvPr/>
          </p:nvSpPr>
          <p:spPr>
            <a:xfrm>
              <a:off x="7648572" y="3569518"/>
              <a:ext cx="1838325" cy="15973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Имитационная модель</a:t>
              </a:r>
              <a:endParaRPr lang="en-US" dirty="0"/>
            </a:p>
            <a:p>
              <a:pPr algn="ctr"/>
              <a:endParaRPr lang="ru-RU" dirty="0"/>
            </a:p>
          </p:txBody>
        </p:sp>
        <p:sp>
          <p:nvSpPr>
            <p:cNvPr id="11" name="Стрелка: вправо 10">
              <a:extLst>
                <a:ext uri="{FF2B5EF4-FFF2-40B4-BE49-F238E27FC236}">
                  <a16:creationId xmlns:a16="http://schemas.microsoft.com/office/drawing/2014/main" id="{EDF5A887-0D2B-673B-540E-67E8868E6011}"/>
                </a:ext>
              </a:extLst>
            </p:cNvPr>
            <p:cNvSpPr/>
            <p:nvPr/>
          </p:nvSpPr>
          <p:spPr>
            <a:xfrm>
              <a:off x="7324721" y="4336756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Стрелка: вправо 11">
              <a:extLst>
                <a:ext uri="{FF2B5EF4-FFF2-40B4-BE49-F238E27FC236}">
                  <a16:creationId xmlns:a16="http://schemas.microsoft.com/office/drawing/2014/main" id="{9072C65D-310E-C898-40CD-EC9AAA7E9D0E}"/>
                </a:ext>
              </a:extLst>
            </p:cNvPr>
            <p:cNvSpPr/>
            <p:nvPr/>
          </p:nvSpPr>
          <p:spPr>
            <a:xfrm>
              <a:off x="9563095" y="4336756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0607EB3C-0AA6-150D-9837-D507BE04F2F8}"/>
                </a:ext>
              </a:extLst>
            </p:cNvPr>
            <p:cNvSpPr/>
            <p:nvPr/>
          </p:nvSpPr>
          <p:spPr>
            <a:xfrm>
              <a:off x="9886946" y="3717241"/>
              <a:ext cx="1981204" cy="1266888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ответ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ru-RU" dirty="0"/>
                <a:t>траектория </a:t>
              </a:r>
              <a:br>
                <a:rPr lang="ru-RU" dirty="0"/>
              </a:br>
              <a:r>
                <a:rPr lang="en-US" dirty="0"/>
                <a:t>y = f(t)</a:t>
              </a:r>
              <a:endParaRPr lang="ru-R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6BF42A-5B56-C276-EDF8-7221AC4F9893}"/>
                </a:ext>
              </a:extLst>
            </p:cNvPr>
            <p:cNvSpPr txBox="1"/>
            <p:nvPr/>
          </p:nvSpPr>
          <p:spPr>
            <a:xfrm>
              <a:off x="7982898" y="4651902"/>
              <a:ext cx="11949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ru-RU" dirty="0"/>
                <a:t>Запуск</a:t>
              </a:r>
            </a:p>
          </p:txBody>
        </p:sp>
        <p:pic>
          <p:nvPicPr>
            <p:cNvPr id="2050" name="Picture 2" descr="ВИЗУАЛИЗАЦИЯ ДИСКРЕТНОГО МНОЖЕСТВА ТОЧЕК ПРИ ПОМОЩИ ПЛАВНЫХ КРИВЫХ БЕЗ  ЛОЖНЫХ ЭКСТРЕМУМОВ">
              <a:extLst>
                <a:ext uri="{FF2B5EF4-FFF2-40B4-BE49-F238E27FC236}">
                  <a16:creationId xmlns:a16="http://schemas.microsoft.com/office/drawing/2014/main" id="{235D5BAE-C1D3-277D-2A33-3DF97DF21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50"/>
            <a:stretch>
              <a:fillRect/>
            </a:stretch>
          </p:blipFill>
          <p:spPr bwMode="auto">
            <a:xfrm>
              <a:off x="9662566" y="5005387"/>
              <a:ext cx="2529434" cy="1753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Равнобедренный треугольник 15">
              <a:extLst>
                <a:ext uri="{FF2B5EF4-FFF2-40B4-BE49-F238E27FC236}">
                  <a16:creationId xmlns:a16="http://schemas.microsoft.com/office/drawing/2014/main" id="{14B78B5C-BA42-484A-1022-75CD815BD55C}"/>
                </a:ext>
              </a:extLst>
            </p:cNvPr>
            <p:cNvSpPr/>
            <p:nvPr/>
          </p:nvSpPr>
          <p:spPr>
            <a:xfrm rot="5400000">
              <a:off x="8815884" y="4679405"/>
              <a:ext cx="314325" cy="295275"/>
            </a:xfrm>
            <a:prstGeom prst="triangl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5749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EE32-25D3-38FF-5BEF-0DF48AE3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C5602-4581-5914-5CEF-A5594E66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Имитационная модель – это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B7344E-919C-16C2-B55B-D884D833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600" dirty="0"/>
              <a:t>модель алгоритма работы (эволюции) системы</a:t>
            </a:r>
          </a:p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600" dirty="0"/>
              <a:t>численный метод проведения компьютерных экспериментов с математическими моделями, описывающими поведение систем в течение времени.</a:t>
            </a:r>
          </a:p>
          <a:p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</a:rPr>
              <a:t>Типовые признаки/свойства имитационное модели</a:t>
            </a:r>
            <a:r>
              <a:rPr lang="en-US" sz="2800" u="sng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715518" lvl="1" indent="-514350">
              <a:buFont typeface="+mj-lt"/>
              <a:buAutoNum type="arabicPeriod"/>
            </a:pPr>
            <a:r>
              <a:rPr lang="ru-RU" sz="2600" dirty="0"/>
              <a:t>Модельное время,</a:t>
            </a:r>
            <a:r>
              <a:rPr lang="en-US" sz="2600" dirty="0"/>
              <a:t> </a:t>
            </a:r>
            <a:r>
              <a:rPr lang="ru-RU" sz="2600" dirty="0"/>
              <a:t>шаг моделирования</a:t>
            </a:r>
            <a:r>
              <a:rPr lang="en-US" sz="2600" dirty="0"/>
              <a:t> (</a:t>
            </a:r>
            <a:r>
              <a:rPr lang="ru-RU" sz="2600" dirty="0"/>
              <a:t>шаг по времени)</a:t>
            </a:r>
            <a:r>
              <a:rPr lang="en-US" sz="2600" dirty="0"/>
              <a:t>, </a:t>
            </a:r>
            <a:r>
              <a:rPr lang="ru-RU" sz="2600" dirty="0"/>
              <a:t>состояние модели вычисляется в особые моменты времени (пошагово)</a:t>
            </a:r>
            <a:r>
              <a:rPr lang="en-US" sz="2600" dirty="0"/>
              <a:t>.</a:t>
            </a:r>
          </a:p>
          <a:p>
            <a:pPr marL="715518" lvl="1" indent="-514350">
              <a:buFont typeface="+mj-lt"/>
              <a:buAutoNum type="arabicPeriod"/>
            </a:pPr>
            <a:r>
              <a:rPr lang="ru-RU" sz="2600" dirty="0"/>
              <a:t>Численный результат</a:t>
            </a:r>
            <a:r>
              <a:rPr lang="en-US" sz="2600" dirty="0"/>
              <a:t>.</a:t>
            </a:r>
          </a:p>
          <a:p>
            <a:pPr marL="715518" lvl="1" indent="-514350">
              <a:buFont typeface="+mj-lt"/>
              <a:buAutoNum type="arabicPeriod"/>
            </a:pPr>
            <a:r>
              <a:rPr lang="ru-RU" sz="2600" dirty="0"/>
              <a:t>Результат имеет погрешности</a:t>
            </a:r>
            <a:r>
              <a:rPr lang="en-US" sz="2600" dirty="0"/>
              <a:t>. </a:t>
            </a:r>
            <a:r>
              <a:rPr lang="ru-RU" sz="2600" dirty="0"/>
              <a:t>Погрешность часто зависит от параметров моделирования: шага моделирования и/или объема собранных данных (для стохастических моделей)</a:t>
            </a:r>
            <a:r>
              <a:rPr lang="en-US" sz="2600" dirty="0"/>
              <a:t>.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85726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0E761-1CBA-462B-A831-5C8D686B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 </a:t>
            </a:r>
            <a:r>
              <a:rPr lang="en-US" dirty="0"/>
              <a:t>Simulation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9C78DA-821F-4228-B28D-46AA02877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</a:rPr>
              <a:t>Назначение</a:t>
            </a:r>
            <a:r>
              <a:rPr lang="en-US" sz="28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Получить (оценить) характеристики работы системы в числовой форме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Визуализировать поведение системы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0" indent="0">
              <a:buNone/>
            </a:pP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</a:rPr>
              <a:t>Области применения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Исследования (наука, бизнес)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Компьютерные игры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9569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1B6027-50FB-4122-BB3E-37B5390D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нужно сделать перед тем как начать имитационное моделирование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C1836-C878-48B7-AC97-A97FE92A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/>
              <a:t>Определить цели моделирования: что мы ожидаем получить в результате</a:t>
            </a:r>
            <a:r>
              <a:rPr lang="en-US" sz="28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Построить математическую модель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Выбрать методы имитационного моделирования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Определить входные параметры и результаты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Определиться, как мы будем оценивать точность полученного результата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8991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85BD7-B6C2-4753-9F0F-73F19600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имитационного моделирования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B128ED-2B9E-46FE-B7DD-629501A0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(</a:t>
            </a:r>
            <a:r>
              <a:rPr lang="en-US" sz="2800" dirty="0" err="1"/>
              <a:t>wikipedia</a:t>
            </a:r>
            <a:r>
              <a:rPr lang="en-U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Непрерывное/пошаговое моделирование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Дискретно-событийное моделирование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Системная динамика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Агентное моделирование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73A0A12-3ADC-411F-9B26-2A74C8DB56C4}"/>
              </a:ext>
            </a:extLst>
          </p:cNvPr>
          <p:cNvCxnSpPr/>
          <p:nvPr/>
        </p:nvCxnSpPr>
        <p:spPr>
          <a:xfrm>
            <a:off x="796954" y="562062"/>
            <a:ext cx="10763075" cy="54108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BB6293-1A9F-463E-A801-3DA9441C43CF}"/>
              </a:ext>
            </a:extLst>
          </p:cNvPr>
          <p:cNvCxnSpPr>
            <a:cxnSpLocks/>
          </p:cNvCxnSpPr>
          <p:nvPr/>
        </p:nvCxnSpPr>
        <p:spPr>
          <a:xfrm flipV="1">
            <a:off x="796954" y="562062"/>
            <a:ext cx="10763075" cy="53689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24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0D136-E7C2-410F-8363-B13F37DF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имитационного моделирования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AE57FA-8786-4716-926E-332449DE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/>
              <a:t>Непрерывное/пошаговое моделирование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Стохастическое моделирование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Дискретно-событийное моделирование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Системная динамика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Агентное моделирование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Клеточные автоматы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..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8169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225</TotalTime>
  <Words>255</Words>
  <Application>Microsoft Office PowerPoint</Application>
  <PresentationFormat>Широкоэкранный</PresentationFormat>
  <Paragraphs>58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Ретро</vt:lpstr>
      <vt:lpstr>Имитационное моделирование</vt:lpstr>
      <vt:lpstr>Имитационная модель</vt:lpstr>
      <vt:lpstr>Имитационная модель – это </vt:lpstr>
      <vt:lpstr>Имитационное моделирование Simulation</vt:lpstr>
      <vt:lpstr>Что нужно сделать перед тем как начать имитационное моделирование?</vt:lpstr>
      <vt:lpstr>Виды имитационного моделирования</vt:lpstr>
      <vt:lpstr>Методы имитационного моделирования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39</cp:revision>
  <dcterms:created xsi:type="dcterms:W3CDTF">2019-01-25T03:35:28Z</dcterms:created>
  <dcterms:modified xsi:type="dcterms:W3CDTF">2026-01-22T07:25:36Z</dcterms:modified>
</cp:coreProperties>
</file>